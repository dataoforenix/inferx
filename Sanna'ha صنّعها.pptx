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عرّفي بالفريق والمسار. الجملة الأساسية: هل الأردن لازم يصنّع المنتج ولا يضل يستورده؟ صنّعها بيجاوب بثواني ومن بيانات حقيقية.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الأردن بيستورد منتجات كثير ممكن تنصنع هون. صاحب الورشة ما عنده طريقة سريعة يعرف إذا بيستاهل، ودراسة الجدوى بتاخد أسابيع ومصاري، فالفرص بتضيع.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بترفع صورة أو بتكتب وصف، وبثواني بيطلعلك حكم واضح من ثلاثة، مع علامة من 10 وشرح بسيط. الوقت 3 لـ 5 ثواني مقاس فعلياً.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الذكاء الاصطناعي بس بيتعرف على المنتج وبيشرح. كل الأرقام بتنحسب بـ Python من بيانات رسمية. وفي حارس بيتأكد إنه كل رقم بالشرح موجود فعلاً بالتقرير، وإذا لأ بنستخدم شرح جاهز.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اضغطي كل مرة وبيطلع جزء: السوق 35% من حجم الاستيراد ونموه، الكلفة 30% من الفرق بين كلفة الاستيراد الواصلة والكلفة المحلية، الجدوى 20% من المكائن والمواد والمهارات، والمنافسة 15%. وبالآخر حدود الحكم.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هاي القواعد بتمنع النظام يجامل: إذا الكلفة المحلية أعلى من المستورد ما بيقول صنّعها أبداً، وإذا البيانات ناقصة بيضل على ربما، وكل رقم إله مصدر والتقديرات معلّمة.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عمود بيطلع لحاله. أربعة صنّعها، المراوح ربما، ومعجون البندورة لا تصنّعها. الخط المتقطع هو حد الـ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ثلاث أرقام: البندورة 3.9 لأنه التصنيع المحلي أغلى من ضعف المستورد، البطاطا بتنزل من 8.6 لـ 5.9 إذا شلنا الجمرك 15%، والكراسي نقطة التعادل 11 طن بس، يعني 2.2% من استيراد الأردن.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الحكم لخطة: sliders، نقطة تعادل، فحص ميزانية، جهات رسمية بتساعد، روابط موردين، خطوات البدء، تقرير PDF، فحص سوق لأي منتج، واجهة عربية كاملة. وهندسياً 587 test و20 من 20 live، والبحث المكرر بيرجع من الذاكرة بـ 0.035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دراسة الجدوى التقليدية بطيئة ومكلفة، الشات بوت العام ممكن يخترع أرقام، وبوابات البيانات بتعطي أرقام خام بدون قرار. صنّعها بيجمع السرعة مع أرقام محسوبة ومفحوصة وحكم واضح وخطوات عملية.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الأثر: تصنيع محلي بدل الاستيراد، مصاري بتضل بالبلد، شغل جديد، وقرارات أسرع وأأمن. ولغرفة الصناعة وجدكو بيصير عندهم خريطة فرص إحلال المستوردات.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الخطوات الجاية: فئات أكثر، ربط بالتمويل، مسار إعادة تدوير، دليل موردين موثّق، وخريطة طلب للغرفة. وسكّري بالجملة الأخيرة.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CEE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5181B"/>
                </a:solidFill>
                <a:latin typeface="Alexandria" pitchFamily="34" charset="0"/>
                <a:ea typeface="Alexandria" pitchFamily="34" charset="-122"/>
                <a:cs typeface="Alexandr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761"/>
            <a:ext cx="10566400" cy="3957439"/>
          </a:xfrm>
          <a:prstGeom prst="rect">
            <a:avLst/>
          </a:prstGeom>
          <a:noFill/>
          <a:ln/>
        </p:spPr>
        <p:txBody>
          <a:bodyPr wrap="square" lIns="0" tIns="0" rIns="0" bIns="0" rtlCol="0" anchor="t"/>
          <a:lstStyle>
            <a:lvl1pPr algn="l" indent="0" marL="0">
              <a:lnSpc>
                <a:spcPct val="140000"/>
              </a:lnSpc>
              <a:buNone/>
              <a:defRPr lang="en-US" sz="1600" dirty="0">
                <a:solidFill>
                  <a:srgbClr val="15181B"/>
                </a:solidFill>
                <a:latin typeface="IBM Plex Sans Arabic" pitchFamily="34" charset="0"/>
                <a:ea typeface="IBM Plex Sans Arabic" pitchFamily="34" charset="-122"/>
                <a:cs typeface="IBM Plex Sans Arabic"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E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5181B"/>
                </a:solidFill>
                <a:latin typeface="Alexandria" pitchFamily="34" charset="0"/>
                <a:ea typeface="Alexandria" pitchFamily="34" charset="-122"/>
                <a:cs typeface="Alexandr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761"/>
            <a:ext cx="10566400" cy="3957439"/>
          </a:xfrm>
          <a:prstGeom prst="rect">
            <a:avLst/>
          </a:prstGeom>
          <a:noFill/>
          <a:ln/>
        </p:spPr>
        <p:txBody>
          <a:bodyPr wrap="square" lIns="0" tIns="0" rIns="0" bIns="0" rtlCol="0" anchor="t"/>
          <a:lstStyle>
            <a:lvl1pPr algn="l" indent="0" marL="0">
              <a:lnSpc>
                <a:spcPct val="140000"/>
              </a:lnSpc>
              <a:buNone/>
              <a:defRPr lang="en-US" sz="1600" dirty="0">
                <a:solidFill>
                  <a:srgbClr val="15181B"/>
                </a:solidFill>
                <a:latin typeface="IBM Plex Sans Arabic" pitchFamily="34" charset="0"/>
                <a:ea typeface="IBM Plex Sans Arabic" pitchFamily="34" charset="-122"/>
                <a:cs typeface="IBM Plex Sans Arabic"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812800" y="2295525"/>
            <a:ext cx="762000" cy="76200"/>
          </a:xfrm>
          <a:prstGeom prst="roundRect">
            <a:avLst>
              <a:gd name="adj" fmla="val 50000"/>
            </a:avLst>
          </a:prstGeom>
          <a:solidFill>
            <a:srgbClr val="E6B325"/>
          </a:solidFill>
          <a:ln/>
        </p:spPr>
      </p:sp>
      <p:sp>
        <p:nvSpPr>
          <p:cNvPr id="3" name="Text 1"/>
          <p:cNvSpPr/>
          <p:nvPr>
            <p:ph type="title"/>
          </p:nvPr>
        </p:nvSpPr>
        <p:spPr>
          <a:xfrm>
            <a:off x="812800" y="2574925"/>
            <a:ext cx="10883392" cy="95885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F9FAF9"/>
                </a:solidFill>
                <a:latin typeface="Alexandria" pitchFamily="34" charset="0"/>
                <a:ea typeface="Alexandria" pitchFamily="34" charset="-122"/>
                <a:cs typeface="Alexandria" pitchFamily="34" charset="-120"/>
              </a:rPr>
              <a:t>Sanna'ha </a:t>
            </a:r>
            <a:r>
              <a:rPr lang="en-US" sz="7000" b="1" i="0" dirty="0">
                <a:solidFill>
                  <a:srgbClr val="E6B325"/>
                </a:solidFill>
                <a:latin typeface="Alexandria" pitchFamily="34" charset="0"/>
                <a:ea typeface="Alexandria" pitchFamily="34" charset="-122"/>
                <a:cs typeface="Alexandria" pitchFamily="34" charset="-120"/>
              </a:rPr>
              <a:t>صنّعها</a:t>
            </a:r>
            <a:endParaRPr lang="en-US" sz="7000" dirty="0"/>
          </a:p>
        </p:txBody>
      </p:sp>
      <p:sp>
        <p:nvSpPr>
          <p:cNvPr id="4" name="Text 2"/>
          <p:cNvSpPr/>
          <p:nvPr/>
        </p:nvSpPr>
        <p:spPr>
          <a:xfrm>
            <a:off x="812800" y="3711575"/>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9FAF9"/>
                </a:solidFill>
                <a:latin typeface="IBM Plex Sans Arabic" pitchFamily="34" charset="0"/>
                <a:ea typeface="IBM Plex Sans Arabic" pitchFamily="34" charset="-122"/>
                <a:cs typeface="IBM Plex Sans Arabic" pitchFamily="34" charset="-120"/>
              </a:rPr>
              <a:t>Should Jordan make it, or keep importing it?</a:t>
            </a:r>
            <a:endParaRPr lang="en-US" sz="2200" dirty="0"/>
          </a:p>
        </p:txBody>
      </p:sp>
      <p:sp>
        <p:nvSpPr>
          <p:cNvPr id="5" name="Text 3"/>
          <p:cNvSpPr/>
          <p:nvPr/>
        </p:nvSpPr>
        <p:spPr>
          <a:xfrm>
            <a:off x="812800" y="4277916"/>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3C8CC"/>
                </a:solidFill>
                <a:latin typeface="IBM Plex Sans Arabic" pitchFamily="34" charset="0"/>
                <a:ea typeface="IBM Plex Sans Arabic" pitchFamily="34" charset="-122"/>
                <a:cs typeface="IBM Plex Sans Arabic" pitchFamily="34" charset="-120"/>
              </a:rPr>
              <a:t>A data-driven import-substitution decision engine, in seconds.</a:t>
            </a:r>
            <a:endParaRPr lang="en-US" sz="16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8"/>
                </a:solidFill>
                <a:latin typeface="IBM Plex Sans Arabic" pitchFamily="34" charset="0"/>
                <a:ea typeface="IBM Plex Sans Arabic" pitchFamily="34" charset="-122"/>
                <a:cs typeface="IBM Plex Sans Arabic" pitchFamily="34" charset="-120"/>
              </a:rPr>
              <a:t>Team InferX · AI Quest 2026 · Jordan.next() · Track next.economy()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EEC"/>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14006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96067"/>
                </a:solidFill>
                <a:latin typeface="IBM Plex Sans Arabic" pitchFamily="34" charset="0"/>
                <a:ea typeface="IBM Plex Sans Arabic" pitchFamily="34" charset="-122"/>
                <a:cs typeface="IBM Plex Sans Arabic" pitchFamily="34" charset="-120"/>
              </a:rPr>
              <a:t>THE PROBLEM</a:t>
            </a:r>
            <a:endParaRPr lang="en-US" sz="1200" dirty="0"/>
          </a:p>
        </p:txBody>
      </p:sp>
      <p:sp>
        <p:nvSpPr>
          <p:cNvPr id="4" name="Text 2"/>
          <p:cNvSpPr/>
          <p:nvPr>
            <p:ph type="title"/>
          </p:nvPr>
        </p:nvSpPr>
        <p:spPr>
          <a:xfrm>
            <a:off x="812800" y="12801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B"/>
                </a:solidFill>
                <a:latin typeface="Alexandria" pitchFamily="34" charset="0"/>
                <a:ea typeface="Alexandria" pitchFamily="34" charset="-122"/>
                <a:cs typeface="Alexandria" pitchFamily="34" charset="-120"/>
              </a:rPr>
              <a:t>Jordan imports products its own workshops could make.</a:t>
            </a:r>
            <a:endParaRPr lang="en-US" sz="3600" dirty="0"/>
          </a:p>
        </p:txBody>
      </p:sp>
      <p:sp>
        <p:nvSpPr>
          <p:cNvPr id="5" name="Text 3"/>
          <p:cNvSpPr/>
          <p:nvPr/>
        </p:nvSpPr>
        <p:spPr>
          <a:xfrm>
            <a:off x="812800" y="2539802"/>
            <a:ext cx="771624" cy="383480"/>
          </a:xfrm>
          <a:prstGeom prst="roundRect">
            <a:avLst>
              <a:gd name="adj" fmla="val 50000"/>
            </a:avLst>
          </a:prstGeom>
          <a:solidFill>
            <a:srgbClr val="E0E3E1"/>
          </a:solidFill>
          <a:ln/>
        </p:spPr>
        <p:txBody>
          <a:bodyPr wrap="none" lIns="0" tIns="0" rIns="0" bIns="0" rtlCol="0" anchor="ctr">
            <a:normAutofit/>
          </a:bodyPr>
          <a:lstStyle/>
          <a:p>
            <a:pPr algn="ct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Chairs</a:t>
            </a:r>
            <a:endParaRPr lang="en-US" sz="1300" dirty="0"/>
          </a:p>
        </p:txBody>
      </p:sp>
      <p:sp>
        <p:nvSpPr>
          <p:cNvPr id="6" name="Text 4"/>
          <p:cNvSpPr/>
          <p:nvPr/>
        </p:nvSpPr>
        <p:spPr>
          <a:xfrm>
            <a:off x="1686024" y="2539802"/>
            <a:ext cx="931863" cy="383480"/>
          </a:xfrm>
          <a:prstGeom prst="roundRect">
            <a:avLst>
              <a:gd name="adj" fmla="val 50000"/>
            </a:avLst>
          </a:prstGeom>
          <a:solidFill>
            <a:srgbClr val="E0E3E1"/>
          </a:solidFill>
          <a:ln/>
        </p:spPr>
        <p:txBody>
          <a:bodyPr wrap="none" lIns="0" tIns="0" rIns="0" bIns="0" rtlCol="0" anchor="ctr">
            <a:normAutofit/>
          </a:bodyPr>
          <a:lstStyle/>
          <a:p>
            <a:pPr algn="ct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Shelving</a:t>
            </a:r>
            <a:endParaRPr lang="en-US" sz="1300" dirty="0"/>
          </a:p>
        </p:txBody>
      </p:sp>
      <p:sp>
        <p:nvSpPr>
          <p:cNvPr id="7" name="Text 5"/>
          <p:cNvSpPr/>
          <p:nvPr/>
        </p:nvSpPr>
        <p:spPr>
          <a:xfrm>
            <a:off x="2719487" y="2539802"/>
            <a:ext cx="1578967" cy="383480"/>
          </a:xfrm>
          <a:prstGeom prst="roundRect">
            <a:avLst>
              <a:gd name="adj" fmla="val 50000"/>
            </a:avLst>
          </a:prstGeom>
          <a:solidFill>
            <a:srgbClr val="E0E3E1"/>
          </a:solidFill>
          <a:ln/>
        </p:spPr>
        <p:txBody>
          <a:bodyPr wrap="none" lIns="0" tIns="0" rIns="0" bIns="0" rtlCol="0" anchor="ctr">
            <a:normAutofit/>
          </a:bodyPr>
          <a:lstStyle/>
          <a:p>
            <a:pPr algn="ct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Plastic tableware</a:t>
            </a:r>
            <a:endParaRPr lang="en-US" sz="1300" dirty="0"/>
          </a:p>
        </p:txBody>
      </p:sp>
      <p:sp>
        <p:nvSpPr>
          <p:cNvPr id="8" name="Text 6"/>
          <p:cNvSpPr/>
          <p:nvPr/>
        </p:nvSpPr>
        <p:spPr>
          <a:xfrm>
            <a:off x="4400054" y="2539802"/>
            <a:ext cx="652859" cy="383480"/>
          </a:xfrm>
          <a:prstGeom prst="roundRect">
            <a:avLst>
              <a:gd name="adj" fmla="val 50000"/>
            </a:avLst>
          </a:prstGeom>
          <a:solidFill>
            <a:srgbClr val="E0E3E1"/>
          </a:solidFill>
          <a:ln/>
        </p:spPr>
        <p:txBody>
          <a:bodyPr wrap="none" lIns="0" tIns="0" rIns="0" bIns="0" rtlCol="0" anchor="ctr">
            <a:normAutofit/>
          </a:bodyPr>
          <a:lstStyle/>
          <a:p>
            <a:pPr algn="ct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Fans</a:t>
            </a:r>
            <a:endParaRPr lang="en-US" sz="1300" dirty="0"/>
          </a:p>
        </p:txBody>
      </p:sp>
      <p:sp>
        <p:nvSpPr>
          <p:cNvPr id="9" name="Text 7"/>
          <p:cNvSpPr/>
          <p:nvPr/>
        </p:nvSpPr>
        <p:spPr>
          <a:xfrm>
            <a:off x="5154513" y="2539802"/>
            <a:ext cx="1169988" cy="383480"/>
          </a:xfrm>
          <a:prstGeom prst="roundRect">
            <a:avLst>
              <a:gd name="adj" fmla="val 50000"/>
            </a:avLst>
          </a:prstGeom>
          <a:solidFill>
            <a:srgbClr val="E0E3E1"/>
          </a:solidFill>
          <a:ln/>
        </p:spPr>
        <p:txBody>
          <a:bodyPr wrap="none" lIns="0" tIns="0" rIns="0" bIns="0" rtlCol="0" anchor="ctr">
            <a:normAutofit/>
          </a:bodyPr>
          <a:lstStyle/>
          <a:p>
            <a:pPr algn="ct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Frozen fries</a:t>
            </a:r>
            <a:endParaRPr lang="en-US" sz="1300" dirty="0"/>
          </a:p>
        </p:txBody>
      </p:sp>
      <p:sp>
        <p:nvSpPr>
          <p:cNvPr id="10" name="Text 8"/>
          <p:cNvSpPr/>
          <p:nvPr/>
        </p:nvSpPr>
        <p:spPr>
          <a:xfrm>
            <a:off x="6426101" y="2539802"/>
            <a:ext cx="1313160" cy="383480"/>
          </a:xfrm>
          <a:prstGeom prst="roundRect">
            <a:avLst>
              <a:gd name="adj" fmla="val 50000"/>
            </a:avLst>
          </a:prstGeom>
          <a:solidFill>
            <a:srgbClr val="E0E3E1"/>
          </a:solidFill>
          <a:ln/>
        </p:spPr>
        <p:txBody>
          <a:bodyPr wrap="none" lIns="0" tIns="0" rIns="0" bIns="0" rtlCol="0" anchor="ctr">
            <a:normAutofit/>
          </a:bodyPr>
          <a:lstStyle/>
          <a:p>
            <a:pPr algn="ct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Tomato paste</a:t>
            </a:r>
            <a:endParaRPr lang="en-US" sz="1300" dirty="0"/>
          </a:p>
        </p:txBody>
      </p:sp>
      <p:sp>
        <p:nvSpPr>
          <p:cNvPr id="11" name="Shape 9"/>
          <p:cNvSpPr/>
          <p:nvPr/>
        </p:nvSpPr>
        <p:spPr>
          <a:xfrm>
            <a:off x="815975" y="3180457"/>
            <a:ext cx="3380284" cy="2861568"/>
          </a:xfrm>
          <a:prstGeom prst="roundRect">
            <a:avLst>
              <a:gd name="adj" fmla="val 3440"/>
            </a:avLst>
          </a:prstGeom>
          <a:solidFill>
            <a:srgbClr val="F9FAF9"/>
          </a:solidFill>
          <a:ln w="6350">
            <a:solidFill>
              <a:srgbClr val="D5D9D6"/>
            </a:solidFill>
            <a:prstDash val="solid"/>
          </a:ln>
        </p:spPr>
      </p:sp>
      <p:sp>
        <p:nvSpPr>
          <p:cNvPr id="12" name="Text 10"/>
          <p:cNvSpPr/>
          <p:nvPr/>
        </p:nvSpPr>
        <p:spPr>
          <a:xfrm>
            <a:off x="1073150" y="3437632"/>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B"/>
                </a:solidFill>
                <a:latin typeface="Alexandria" pitchFamily="34" charset="0"/>
                <a:ea typeface="Alexandria" pitchFamily="34" charset="-122"/>
                <a:cs typeface="Alexandria" pitchFamily="34" charset="-120"/>
              </a:rPr>
              <a:t>No fast answer</a:t>
            </a:r>
            <a:endParaRPr lang="en-US" sz="1800" dirty="0"/>
          </a:p>
        </p:txBody>
      </p:sp>
      <p:sp>
        <p:nvSpPr>
          <p:cNvPr id="13" name="Text 11"/>
          <p:cNvSpPr/>
          <p:nvPr/>
        </p:nvSpPr>
        <p:spPr>
          <a:xfrm>
            <a:off x="1073150" y="3813473"/>
            <a:ext cx="295191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067"/>
                </a:solidFill>
                <a:latin typeface="IBM Plex Sans Arabic" pitchFamily="34" charset="0"/>
                <a:ea typeface="IBM Plex Sans Arabic" pitchFamily="34" charset="-122"/>
                <a:cs typeface="IBM Plex Sans Arabic" pitchFamily="34" charset="-120"/>
              </a:rPr>
              <a:t>Workshop owners and entrepreneurs can't quickly tell if making it locally beats importing it.</a:t>
            </a:r>
            <a:endParaRPr lang="en-US" sz="1400" dirty="0"/>
          </a:p>
        </p:txBody>
      </p:sp>
      <p:sp>
        <p:nvSpPr>
          <p:cNvPr id="14" name="Shape 12"/>
          <p:cNvSpPr/>
          <p:nvPr/>
        </p:nvSpPr>
        <p:spPr>
          <a:xfrm>
            <a:off x="4405809" y="3180457"/>
            <a:ext cx="3380383" cy="2861568"/>
          </a:xfrm>
          <a:prstGeom prst="roundRect">
            <a:avLst>
              <a:gd name="adj" fmla="val 3440"/>
            </a:avLst>
          </a:prstGeom>
          <a:solidFill>
            <a:srgbClr val="F9FAF9"/>
          </a:solidFill>
          <a:ln w="6350">
            <a:solidFill>
              <a:srgbClr val="D5D9D6"/>
            </a:solidFill>
            <a:prstDash val="solid"/>
          </a:ln>
        </p:spPr>
      </p:sp>
      <p:sp>
        <p:nvSpPr>
          <p:cNvPr id="15" name="Text 13"/>
          <p:cNvSpPr/>
          <p:nvPr/>
        </p:nvSpPr>
        <p:spPr>
          <a:xfrm>
            <a:off x="4662984" y="3437632"/>
            <a:ext cx="295201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B"/>
                </a:solidFill>
                <a:latin typeface="Alexandria" pitchFamily="34" charset="0"/>
                <a:ea typeface="Alexandria" pitchFamily="34" charset="-122"/>
                <a:cs typeface="Alexandria" pitchFamily="34" charset="-120"/>
              </a:rPr>
              <a:t>Slow and costly</a:t>
            </a:r>
            <a:endParaRPr lang="en-US" sz="1800" dirty="0"/>
          </a:p>
        </p:txBody>
      </p:sp>
      <p:sp>
        <p:nvSpPr>
          <p:cNvPr id="16" name="Text 14"/>
          <p:cNvSpPr/>
          <p:nvPr/>
        </p:nvSpPr>
        <p:spPr>
          <a:xfrm>
            <a:off x="4662984" y="3813473"/>
            <a:ext cx="295201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067"/>
                </a:solidFill>
                <a:latin typeface="IBM Plex Sans Arabic" pitchFamily="34" charset="0"/>
                <a:ea typeface="IBM Plex Sans Arabic" pitchFamily="34" charset="-122"/>
                <a:cs typeface="IBM Plex Sans Arabic" pitchFamily="34" charset="-120"/>
              </a:rPr>
              <a:t>A traditional feasibility study takes weeks and costs money.</a:t>
            </a:r>
            <a:endParaRPr lang="en-US" sz="1400" dirty="0"/>
          </a:p>
        </p:txBody>
      </p:sp>
      <p:sp>
        <p:nvSpPr>
          <p:cNvPr id="17" name="Shape 15"/>
          <p:cNvSpPr/>
          <p:nvPr/>
        </p:nvSpPr>
        <p:spPr>
          <a:xfrm>
            <a:off x="7995741" y="3180457"/>
            <a:ext cx="3380284" cy="2861568"/>
          </a:xfrm>
          <a:prstGeom prst="roundRect">
            <a:avLst>
              <a:gd name="adj" fmla="val 3440"/>
            </a:avLst>
          </a:prstGeom>
          <a:solidFill>
            <a:srgbClr val="1C2024"/>
          </a:solidFill>
          <a:ln w="6350">
            <a:solidFill>
              <a:srgbClr val="1C2024"/>
            </a:solidFill>
            <a:prstDash val="solid"/>
          </a:ln>
        </p:spPr>
      </p:sp>
      <p:sp>
        <p:nvSpPr>
          <p:cNvPr id="18" name="Text 16"/>
          <p:cNvSpPr/>
          <p:nvPr/>
        </p:nvSpPr>
        <p:spPr>
          <a:xfrm>
            <a:off x="8252916" y="3437632"/>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B325"/>
                </a:solidFill>
                <a:latin typeface="Alexandria" pitchFamily="34" charset="0"/>
                <a:ea typeface="Alexandria" pitchFamily="34" charset="-122"/>
                <a:cs typeface="Alexandria" pitchFamily="34" charset="-120"/>
              </a:rPr>
              <a:t>Lost opportunities</a:t>
            </a:r>
            <a:endParaRPr lang="en-US" sz="1800" dirty="0"/>
          </a:p>
        </p:txBody>
      </p:sp>
      <p:sp>
        <p:nvSpPr>
          <p:cNvPr id="19" name="Text 17"/>
          <p:cNvSpPr/>
          <p:nvPr/>
        </p:nvSpPr>
        <p:spPr>
          <a:xfrm>
            <a:off x="8252916" y="3813473"/>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8CC"/>
                </a:solidFill>
                <a:latin typeface="IBM Plex Sans Arabic" pitchFamily="34" charset="0"/>
                <a:ea typeface="IBM Plex Sans Arabic" pitchFamily="34" charset="-122"/>
                <a:cs typeface="IBM Plex Sans Arabic" pitchFamily="34" charset="-120"/>
              </a:rPr>
              <a:t>So many chances to manufacture locally are never explored.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EEC"/>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14751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96067"/>
                </a:solidFill>
                <a:latin typeface="IBM Plex Sans Arabic" pitchFamily="34" charset="0"/>
                <a:ea typeface="IBM Plex Sans Arabic" pitchFamily="34" charset="-122"/>
                <a:cs typeface="IBM Plex Sans Arabic" pitchFamily="34" charset="-120"/>
              </a:rPr>
              <a:t>THE SOLUTION</a:t>
            </a:r>
            <a:endParaRPr lang="en-US" sz="1200" dirty="0"/>
          </a:p>
        </p:txBody>
      </p:sp>
      <p:sp>
        <p:nvSpPr>
          <p:cNvPr id="4" name="Text 2"/>
          <p:cNvSpPr/>
          <p:nvPr>
            <p:ph type="title"/>
          </p:nvPr>
        </p:nvSpPr>
        <p:spPr>
          <a:xfrm>
            <a:off x="812800" y="13309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B"/>
                </a:solidFill>
                <a:latin typeface="Alexandria" pitchFamily="34" charset="0"/>
                <a:ea typeface="Alexandria" pitchFamily="34" charset="-122"/>
                <a:cs typeface="Alexandria" pitchFamily="34" charset="-120"/>
              </a:rPr>
              <a:t>Upload a photo or describe it. Get a clear verdict in seconds.</a:t>
            </a:r>
            <a:endParaRPr lang="en-US" sz="3600" dirty="0"/>
          </a:p>
        </p:txBody>
      </p:sp>
      <p:sp>
        <p:nvSpPr>
          <p:cNvPr id="5" name="Text 3"/>
          <p:cNvSpPr/>
          <p:nvPr/>
        </p:nvSpPr>
        <p:spPr>
          <a:xfrm>
            <a:off x="812800" y="3643610"/>
            <a:ext cx="5232400"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5181B"/>
                </a:solidFill>
                <a:latin typeface="IBM Plex Mono" pitchFamily="49" charset="0"/>
                <a:ea typeface="IBM Plex Mono" pitchFamily="49" charset="-122"/>
                <a:cs typeface="IBM Plex Mono" pitchFamily="49" charset="-120"/>
              </a:rPr>
              <a:t>3–5 s</a:t>
            </a:r>
            <a:endParaRPr lang="en-US" sz="6000" dirty="0"/>
          </a:p>
        </p:txBody>
      </p:sp>
      <p:sp>
        <p:nvSpPr>
          <p:cNvPr id="6" name="Text 4"/>
          <p:cNvSpPr/>
          <p:nvPr/>
        </p:nvSpPr>
        <p:spPr>
          <a:xfrm>
            <a:off x="812800" y="4545310"/>
            <a:ext cx="52324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067"/>
                </a:solidFill>
                <a:latin typeface="IBM Plex Sans Arabic" pitchFamily="34" charset="0"/>
                <a:ea typeface="IBM Plex Sans Arabic" pitchFamily="34" charset="-122"/>
                <a:cs typeface="IBM Plex Sans Arabic" pitchFamily="34" charset="-120"/>
              </a:rPr>
              <a:t>Measured response time in our tests, in Arabic or English, from a photo or a description.</a:t>
            </a:r>
            <a:endParaRPr lang="en-US" sz="1400" dirty="0"/>
          </a:p>
        </p:txBody>
      </p:sp>
      <p:sp>
        <p:nvSpPr>
          <p:cNvPr id="7" name="Text 5"/>
          <p:cNvSpPr/>
          <p:nvPr/>
        </p:nvSpPr>
        <p:spPr>
          <a:xfrm>
            <a:off x="6299200" y="3046611"/>
            <a:ext cx="5080000" cy="660400"/>
          </a:xfrm>
          <a:prstGeom prst="roundRect">
            <a:avLst>
              <a:gd name="adj" fmla="val 15385"/>
            </a:avLst>
          </a:prstGeom>
          <a:solidFill>
            <a:srgbClr val="E6B325"/>
          </a:solidFill>
          <a:ln/>
        </p:spPr>
        <p:txBody>
          <a:bodyPr wrap="square" lIns="224242" tIns="122642" rIns="87082" bIns="97242" rtlCol="0" anchor="t">
            <a:normAutofit/>
          </a:bodyPr>
          <a:lstStyle/>
          <a:p>
            <a:pPr algn="l" indent="0" marL="0">
              <a:lnSpc>
                <a:spcPts val="2800"/>
              </a:lnSpc>
              <a:buNone/>
            </a:pPr>
            <a:r>
              <a:rPr lang="en-US" sz="2000" b="1" dirty="0">
                <a:solidFill>
                  <a:srgbClr val="15181B"/>
                </a:solidFill>
                <a:latin typeface="Alexandria" pitchFamily="34" charset="0"/>
                <a:ea typeface="Alexandria" pitchFamily="34" charset="-122"/>
                <a:cs typeface="Alexandria" pitchFamily="34" charset="-120"/>
              </a:rPr>
              <a:t>صنّعها · MANUFACTURE</a:t>
            </a:r>
            <a:endParaRPr lang="en-US" sz="2000" dirty="0"/>
          </a:p>
        </p:txBody>
      </p:sp>
      <p:sp>
        <p:nvSpPr>
          <p:cNvPr id="8" name="Text 6"/>
          <p:cNvSpPr/>
          <p:nvPr/>
        </p:nvSpPr>
        <p:spPr>
          <a:xfrm>
            <a:off x="6299200" y="3834011"/>
            <a:ext cx="5080000" cy="660400"/>
          </a:xfrm>
          <a:prstGeom prst="roundRect">
            <a:avLst>
              <a:gd name="adj" fmla="val 15385"/>
            </a:avLst>
          </a:prstGeom>
          <a:solidFill>
            <a:srgbClr val="596067"/>
          </a:solidFill>
          <a:ln/>
        </p:spPr>
        <p:txBody>
          <a:bodyPr wrap="square" lIns="224242" tIns="122642" rIns="87082" bIns="97242" rtlCol="0" anchor="t">
            <a:normAutofit/>
          </a:bodyPr>
          <a:lstStyle/>
          <a:p>
            <a:pPr algn="l" indent="0" marL="0">
              <a:lnSpc>
                <a:spcPts val="2800"/>
              </a:lnSpc>
              <a:buNone/>
            </a:pPr>
            <a:r>
              <a:rPr lang="en-US" sz="2000" b="1" dirty="0">
                <a:solidFill>
                  <a:srgbClr val="F9FAF9"/>
                </a:solidFill>
                <a:latin typeface="Alexandria" pitchFamily="34" charset="0"/>
                <a:ea typeface="Alexandria" pitchFamily="34" charset="-122"/>
                <a:cs typeface="Alexandria" pitchFamily="34" charset="-120"/>
              </a:rPr>
              <a:t>ربما · MAYBE</a:t>
            </a:r>
            <a:endParaRPr lang="en-US" sz="2000" dirty="0"/>
          </a:p>
        </p:txBody>
      </p:sp>
      <p:sp>
        <p:nvSpPr>
          <p:cNvPr id="9" name="Text 7"/>
          <p:cNvSpPr/>
          <p:nvPr/>
        </p:nvSpPr>
        <p:spPr>
          <a:xfrm>
            <a:off x="6299200" y="4621411"/>
            <a:ext cx="5080000" cy="660400"/>
          </a:xfrm>
          <a:prstGeom prst="roundRect">
            <a:avLst>
              <a:gd name="adj" fmla="val 15385"/>
            </a:avLst>
          </a:prstGeom>
          <a:solidFill>
            <a:srgbClr val="B3412E"/>
          </a:solidFill>
          <a:ln/>
        </p:spPr>
        <p:txBody>
          <a:bodyPr wrap="square" lIns="224242" tIns="122642" rIns="87082" bIns="97242" rtlCol="0" anchor="t">
            <a:normAutofit/>
          </a:bodyPr>
          <a:lstStyle/>
          <a:p>
            <a:pPr algn="l" indent="0" marL="0">
              <a:lnSpc>
                <a:spcPts val="2800"/>
              </a:lnSpc>
              <a:buNone/>
            </a:pPr>
            <a:r>
              <a:rPr lang="en-US" sz="2000" b="1" dirty="0">
                <a:solidFill>
                  <a:srgbClr val="F9FAF9"/>
                </a:solidFill>
                <a:latin typeface="Alexandria" pitchFamily="34" charset="0"/>
                <a:ea typeface="Alexandria" pitchFamily="34" charset="-122"/>
                <a:cs typeface="Alexandria" pitchFamily="34" charset="-120"/>
              </a:rPr>
              <a:t>لا تصنّعها · DON'T</a:t>
            </a:r>
            <a:endParaRPr lang="en-US" sz="2000" dirty="0"/>
          </a:p>
        </p:txBody>
      </p:sp>
      <p:sp>
        <p:nvSpPr>
          <p:cNvPr id="10" name="Text 8"/>
          <p:cNvSpPr/>
          <p:nvPr/>
        </p:nvSpPr>
        <p:spPr>
          <a:xfrm>
            <a:off x="6299200" y="5408811"/>
            <a:ext cx="52324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Plus a score out of 10 and a plain-language explanation.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EEC"/>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15404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96067"/>
                </a:solidFill>
                <a:latin typeface="IBM Plex Sans Arabic" pitchFamily="34" charset="0"/>
                <a:ea typeface="IBM Plex Sans Arabic" pitchFamily="34" charset="-122"/>
                <a:cs typeface="IBM Plex Sans Arabic" pitchFamily="34" charset="-120"/>
              </a:rPr>
              <a:t>HOW IT WORKS</a:t>
            </a:r>
            <a:endParaRPr lang="en-US" sz="1200" dirty="0"/>
          </a:p>
        </p:txBody>
      </p:sp>
      <p:sp>
        <p:nvSpPr>
          <p:cNvPr id="4" name="Text 2"/>
          <p:cNvSpPr/>
          <p:nvPr>
            <p:ph type="title"/>
          </p:nvPr>
        </p:nvSpPr>
        <p:spPr>
          <a:xfrm>
            <a:off x="812800" y="11785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B"/>
                </a:solidFill>
                <a:latin typeface="Alexandria" pitchFamily="34" charset="0"/>
                <a:ea typeface="Alexandria" pitchFamily="34" charset="-122"/>
                <a:cs typeface="Alexandria" pitchFamily="34" charset="-120"/>
              </a:rPr>
              <a:t>AI identifies and explains. Python does the math.</a:t>
            </a:r>
            <a:endParaRPr lang="en-US" sz="3600" dirty="0"/>
          </a:p>
        </p:txBody>
      </p:sp>
      <p:sp>
        <p:nvSpPr>
          <p:cNvPr id="5" name="Shape 3"/>
          <p:cNvSpPr/>
          <p:nvPr/>
        </p:nvSpPr>
        <p:spPr>
          <a:xfrm>
            <a:off x="815975" y="2543175"/>
            <a:ext cx="1873250" cy="2089150"/>
          </a:xfrm>
          <a:prstGeom prst="roundRect">
            <a:avLst>
              <a:gd name="adj" fmla="val 5254"/>
            </a:avLst>
          </a:prstGeom>
          <a:solidFill>
            <a:srgbClr val="F9FAF9"/>
          </a:solidFill>
          <a:ln w="6350">
            <a:solidFill>
              <a:srgbClr val="D5D9D6"/>
            </a:solidFill>
            <a:prstDash val="solid"/>
          </a:ln>
        </p:spPr>
      </p:sp>
      <p:sp>
        <p:nvSpPr>
          <p:cNvPr id="6" name="Text 4"/>
          <p:cNvSpPr/>
          <p:nvPr/>
        </p:nvSpPr>
        <p:spPr>
          <a:xfrm>
            <a:off x="1022350" y="2749550"/>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96067"/>
                </a:solidFill>
                <a:latin typeface="IBM Plex Mono" pitchFamily="49" charset="0"/>
                <a:ea typeface="IBM Plex Mono" pitchFamily="49" charset="-122"/>
                <a:cs typeface="IBM Plex Mono" pitchFamily="49" charset="-120"/>
              </a:rPr>
              <a:t>01</a:t>
            </a:r>
            <a:endParaRPr lang="en-US" sz="1400" dirty="0"/>
          </a:p>
        </p:txBody>
      </p:sp>
      <p:sp>
        <p:nvSpPr>
          <p:cNvPr id="7" name="Text 5"/>
          <p:cNvSpPr/>
          <p:nvPr/>
        </p:nvSpPr>
        <p:spPr>
          <a:xfrm>
            <a:off x="1022350" y="3099991"/>
            <a:ext cx="1511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Photo or text</a:t>
            </a:r>
            <a:endParaRPr lang="en-US" sz="1500" dirty="0"/>
          </a:p>
        </p:txBody>
      </p:sp>
      <p:sp>
        <p:nvSpPr>
          <p:cNvPr id="8" name="Text 6"/>
          <p:cNvSpPr/>
          <p:nvPr/>
        </p:nvSpPr>
        <p:spPr>
          <a:xfrm>
            <a:off x="1022350" y="3430191"/>
            <a:ext cx="1511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Arabic or English input</a:t>
            </a:r>
            <a:endParaRPr lang="en-US" sz="1200" dirty="0"/>
          </a:p>
        </p:txBody>
      </p:sp>
      <p:sp>
        <p:nvSpPr>
          <p:cNvPr id="9" name="Shape 7"/>
          <p:cNvSpPr/>
          <p:nvPr/>
        </p:nvSpPr>
        <p:spPr>
          <a:xfrm>
            <a:off x="2987675" y="2543175"/>
            <a:ext cx="1873250" cy="2089150"/>
          </a:xfrm>
          <a:prstGeom prst="roundRect">
            <a:avLst>
              <a:gd name="adj" fmla="val 5254"/>
            </a:avLst>
          </a:prstGeom>
          <a:solidFill>
            <a:srgbClr val="F9FAF9"/>
          </a:solidFill>
          <a:ln w="6350">
            <a:solidFill>
              <a:srgbClr val="D5D9D6"/>
            </a:solidFill>
            <a:prstDash val="solid"/>
          </a:ln>
        </p:spPr>
      </p:sp>
      <p:sp>
        <p:nvSpPr>
          <p:cNvPr id="10" name="Text 8"/>
          <p:cNvSpPr/>
          <p:nvPr/>
        </p:nvSpPr>
        <p:spPr>
          <a:xfrm>
            <a:off x="3194050" y="2749550"/>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96067"/>
                </a:solidFill>
                <a:latin typeface="IBM Plex Mono" pitchFamily="49" charset="0"/>
                <a:ea typeface="IBM Plex Mono" pitchFamily="49" charset="-122"/>
                <a:cs typeface="IBM Plex Mono" pitchFamily="49" charset="-120"/>
              </a:rPr>
              <a:t>02</a:t>
            </a:r>
            <a:endParaRPr lang="en-US" sz="1400" dirty="0"/>
          </a:p>
        </p:txBody>
      </p:sp>
      <p:sp>
        <p:nvSpPr>
          <p:cNvPr id="11" name="Text 9"/>
          <p:cNvSpPr/>
          <p:nvPr/>
        </p:nvSpPr>
        <p:spPr>
          <a:xfrm>
            <a:off x="3194050" y="3099991"/>
            <a:ext cx="1511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AI identifies</a:t>
            </a:r>
            <a:endParaRPr lang="en-US" sz="1500" dirty="0"/>
          </a:p>
        </p:txBody>
      </p:sp>
      <p:sp>
        <p:nvSpPr>
          <p:cNvPr id="12" name="Text 10"/>
          <p:cNvSpPr/>
          <p:nvPr/>
        </p:nvSpPr>
        <p:spPr>
          <a:xfrm>
            <a:off x="3194050" y="3430191"/>
            <a:ext cx="1511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Matches it to a product category</a:t>
            </a:r>
            <a:endParaRPr lang="en-US" sz="1200" dirty="0"/>
          </a:p>
        </p:txBody>
      </p:sp>
      <p:sp>
        <p:nvSpPr>
          <p:cNvPr id="13" name="Shape 11"/>
          <p:cNvSpPr/>
          <p:nvPr/>
        </p:nvSpPr>
        <p:spPr>
          <a:xfrm>
            <a:off x="5159375" y="2543175"/>
            <a:ext cx="1873250" cy="2089150"/>
          </a:xfrm>
          <a:prstGeom prst="roundRect">
            <a:avLst>
              <a:gd name="adj" fmla="val 5254"/>
            </a:avLst>
          </a:prstGeom>
          <a:solidFill>
            <a:srgbClr val="E6B325"/>
          </a:solidFill>
          <a:ln w="6350">
            <a:solidFill>
              <a:srgbClr val="C99A12"/>
            </a:solidFill>
            <a:prstDash val="solid"/>
          </a:ln>
        </p:spPr>
      </p:sp>
      <p:sp>
        <p:nvSpPr>
          <p:cNvPr id="14" name="Text 12"/>
          <p:cNvSpPr/>
          <p:nvPr/>
        </p:nvSpPr>
        <p:spPr>
          <a:xfrm>
            <a:off x="5365750" y="2749550"/>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3F44"/>
                </a:solidFill>
                <a:latin typeface="IBM Plex Mono" pitchFamily="49" charset="0"/>
                <a:ea typeface="IBM Plex Mono" pitchFamily="49" charset="-122"/>
                <a:cs typeface="IBM Plex Mono" pitchFamily="49" charset="-120"/>
              </a:rPr>
              <a:t>03</a:t>
            </a:r>
            <a:endParaRPr lang="en-US" sz="1400" dirty="0"/>
          </a:p>
        </p:txBody>
      </p:sp>
      <p:sp>
        <p:nvSpPr>
          <p:cNvPr id="15" name="Text 13"/>
          <p:cNvSpPr/>
          <p:nvPr/>
        </p:nvSpPr>
        <p:spPr>
          <a:xfrm>
            <a:off x="5365750" y="3099991"/>
            <a:ext cx="15113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Python calculates</a:t>
            </a:r>
            <a:endParaRPr lang="en-US" sz="1500" dirty="0"/>
          </a:p>
        </p:txBody>
      </p:sp>
      <p:sp>
        <p:nvSpPr>
          <p:cNvPr id="16" name="Text 14"/>
          <p:cNvSpPr/>
          <p:nvPr/>
        </p:nvSpPr>
        <p:spPr>
          <a:xfrm>
            <a:off x="5365750" y="3658791"/>
            <a:ext cx="1511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3F44"/>
                </a:solidFill>
                <a:latin typeface="IBM Plex Sans Arabic" pitchFamily="34" charset="0"/>
                <a:ea typeface="IBM Plex Sans Arabic" pitchFamily="34" charset="-122"/>
                <a:cs typeface="IBM Plex Sans Arabic" pitchFamily="34" charset="-120"/>
              </a:rPr>
              <a:t>Scores from official trade data</a:t>
            </a:r>
            <a:endParaRPr lang="en-US" sz="1200" dirty="0"/>
          </a:p>
        </p:txBody>
      </p:sp>
      <p:sp>
        <p:nvSpPr>
          <p:cNvPr id="17" name="Shape 15"/>
          <p:cNvSpPr/>
          <p:nvPr/>
        </p:nvSpPr>
        <p:spPr>
          <a:xfrm>
            <a:off x="7331075" y="2543175"/>
            <a:ext cx="1873250" cy="2089150"/>
          </a:xfrm>
          <a:prstGeom prst="roundRect">
            <a:avLst>
              <a:gd name="adj" fmla="val 5254"/>
            </a:avLst>
          </a:prstGeom>
          <a:solidFill>
            <a:srgbClr val="F9FAF9"/>
          </a:solidFill>
          <a:ln w="6350">
            <a:solidFill>
              <a:srgbClr val="D5D9D6"/>
            </a:solidFill>
            <a:prstDash val="solid"/>
          </a:ln>
        </p:spPr>
      </p:sp>
      <p:sp>
        <p:nvSpPr>
          <p:cNvPr id="18" name="Text 16"/>
          <p:cNvSpPr/>
          <p:nvPr/>
        </p:nvSpPr>
        <p:spPr>
          <a:xfrm>
            <a:off x="7537450" y="2749550"/>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96067"/>
                </a:solidFill>
                <a:latin typeface="IBM Plex Mono" pitchFamily="49" charset="0"/>
                <a:ea typeface="IBM Plex Mono" pitchFamily="49" charset="-122"/>
                <a:cs typeface="IBM Plex Mono" pitchFamily="49" charset="-120"/>
              </a:rPr>
              <a:t>04</a:t>
            </a:r>
            <a:endParaRPr lang="en-US" sz="1400" dirty="0"/>
          </a:p>
        </p:txBody>
      </p:sp>
      <p:sp>
        <p:nvSpPr>
          <p:cNvPr id="19" name="Text 17"/>
          <p:cNvSpPr/>
          <p:nvPr/>
        </p:nvSpPr>
        <p:spPr>
          <a:xfrm>
            <a:off x="7537450" y="3099991"/>
            <a:ext cx="1511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AI explains</a:t>
            </a:r>
            <a:endParaRPr lang="en-US" sz="1500" dirty="0"/>
          </a:p>
        </p:txBody>
      </p:sp>
      <p:sp>
        <p:nvSpPr>
          <p:cNvPr id="20" name="Text 18"/>
          <p:cNvSpPr/>
          <p:nvPr/>
        </p:nvSpPr>
        <p:spPr>
          <a:xfrm>
            <a:off x="7537450" y="3430191"/>
            <a:ext cx="15113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In plain Arabic or English</a:t>
            </a:r>
            <a:endParaRPr lang="en-US" sz="1200" dirty="0"/>
          </a:p>
        </p:txBody>
      </p:sp>
      <p:sp>
        <p:nvSpPr>
          <p:cNvPr id="21" name="Shape 19"/>
          <p:cNvSpPr/>
          <p:nvPr/>
        </p:nvSpPr>
        <p:spPr>
          <a:xfrm>
            <a:off x="9502775" y="2543175"/>
            <a:ext cx="1873250" cy="2089150"/>
          </a:xfrm>
          <a:prstGeom prst="roundRect">
            <a:avLst>
              <a:gd name="adj" fmla="val 5254"/>
            </a:avLst>
          </a:prstGeom>
          <a:solidFill>
            <a:srgbClr val="1C2024"/>
          </a:solidFill>
          <a:ln w="6350">
            <a:solidFill>
              <a:srgbClr val="1C2024"/>
            </a:solidFill>
            <a:prstDash val="solid"/>
          </a:ln>
        </p:spPr>
      </p:sp>
      <p:sp>
        <p:nvSpPr>
          <p:cNvPr id="22" name="Text 20"/>
          <p:cNvSpPr/>
          <p:nvPr/>
        </p:nvSpPr>
        <p:spPr>
          <a:xfrm>
            <a:off x="9709150" y="2749550"/>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6B325"/>
                </a:solidFill>
                <a:latin typeface="IBM Plex Mono" pitchFamily="49" charset="0"/>
                <a:ea typeface="IBM Plex Mono" pitchFamily="49" charset="-122"/>
                <a:cs typeface="IBM Plex Mono" pitchFamily="49" charset="-120"/>
              </a:rPr>
              <a:t>05</a:t>
            </a:r>
            <a:endParaRPr lang="en-US" sz="1400" dirty="0"/>
          </a:p>
        </p:txBody>
      </p:sp>
      <p:sp>
        <p:nvSpPr>
          <p:cNvPr id="23" name="Text 21"/>
          <p:cNvSpPr/>
          <p:nvPr/>
        </p:nvSpPr>
        <p:spPr>
          <a:xfrm>
            <a:off x="9709150" y="3099991"/>
            <a:ext cx="15113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9FAF9"/>
                </a:solidFill>
                <a:latin typeface="Alexandria" pitchFamily="34" charset="0"/>
                <a:ea typeface="Alexandria" pitchFamily="34" charset="-122"/>
                <a:cs typeface="Alexandria" pitchFamily="34" charset="-120"/>
              </a:rPr>
              <a:t>Grounding guard</a:t>
            </a:r>
            <a:endParaRPr lang="en-US" sz="1500" dirty="0"/>
          </a:p>
        </p:txBody>
      </p:sp>
      <p:sp>
        <p:nvSpPr>
          <p:cNvPr id="24" name="Text 22"/>
          <p:cNvSpPr/>
          <p:nvPr/>
        </p:nvSpPr>
        <p:spPr>
          <a:xfrm>
            <a:off x="9709150" y="3658791"/>
            <a:ext cx="15113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8CC"/>
                </a:solidFill>
                <a:latin typeface="IBM Plex Sans Arabic" pitchFamily="34" charset="0"/>
                <a:ea typeface="IBM Plex Sans Arabic" pitchFamily="34" charset="-122"/>
                <a:cs typeface="IBM Plex Sans Arabic" pitchFamily="34" charset="-120"/>
              </a:rPr>
              <a:t>Unverified number? A fixed template instead</a:t>
            </a:r>
            <a:endParaRPr lang="en-US" sz="1200" dirty="0"/>
          </a:p>
        </p:txBody>
      </p:sp>
      <p:sp>
        <p:nvSpPr>
          <p:cNvPr id="25" name="Text 23"/>
          <p:cNvSpPr/>
          <p:nvPr/>
        </p:nvSpPr>
        <p:spPr>
          <a:xfrm>
            <a:off x="812800" y="5016500"/>
            <a:ext cx="10566400" cy="640060"/>
          </a:xfrm>
          <a:prstGeom prst="roundRect">
            <a:avLst>
              <a:gd name="adj" fmla="val 15874"/>
            </a:avLst>
          </a:prstGeom>
          <a:solidFill>
            <a:srgbClr val="1C2024"/>
          </a:solidFill>
          <a:ln/>
        </p:spPr>
        <p:txBody>
          <a:bodyPr wrap="square" lIns="224242" tIns="148042" rIns="0" bIns="122642" rtlCol="0" anchor="t">
            <a:normAutofit/>
          </a:bodyPr>
          <a:lstStyle/>
          <a:p>
            <a:pPr algn="l" indent="0" marL="0">
              <a:lnSpc>
                <a:spcPts val="2240"/>
              </a:lnSpc>
              <a:buNone/>
            </a:pPr>
            <a:r>
              <a:rPr lang="en-US" sz="1600" dirty="0">
                <a:solidFill>
                  <a:srgbClr val="F9FAF9"/>
                </a:solidFill>
                <a:latin typeface="IBM Plex Sans Arabic" pitchFamily="34" charset="0"/>
                <a:ea typeface="IBM Plex Sans Arabic" pitchFamily="34" charset="-122"/>
                <a:cs typeface="IBM Plex Sans Arabic" pitchFamily="34" charset="-120"/>
              </a:rPr>
              <a:t>Every number in the explanation is checked against the calculated report.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EEC"/>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326374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96067"/>
                </a:solidFill>
                <a:latin typeface="IBM Plex Sans Arabic" pitchFamily="34" charset="0"/>
                <a:ea typeface="IBM Plex Sans Arabic" pitchFamily="34" charset="-122"/>
                <a:cs typeface="IBM Plex Sans Arabic" pitchFamily="34" charset="-120"/>
              </a:rPr>
              <a:t>HOW THE SCORE IS CALCULATED</a:t>
            </a:r>
            <a:endParaRPr lang="en-US" sz="1200" dirty="0"/>
          </a:p>
        </p:txBody>
      </p:sp>
      <p:sp>
        <p:nvSpPr>
          <p:cNvPr id="4" name="Text 2"/>
          <p:cNvSpPr/>
          <p:nvPr>
            <p:ph type="title"/>
          </p:nvPr>
        </p:nvSpPr>
        <p:spPr>
          <a:xfrm>
            <a:off x="812800" y="11785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B"/>
                </a:solidFill>
                <a:latin typeface="Alexandria" pitchFamily="34" charset="0"/>
                <a:ea typeface="Alexandria" pitchFamily="34" charset="-122"/>
                <a:cs typeface="Alexandria" pitchFamily="34" charset="-120"/>
              </a:rPr>
              <a:t>Score out of 10 = four weighted parts</a:t>
            </a:r>
            <a:endParaRPr lang="en-US" sz="3600" dirty="0"/>
          </a:p>
        </p:txBody>
      </p:sp>
      <p:sp>
        <p:nvSpPr>
          <p:cNvPr id="5" name="Shape 3"/>
          <p:cNvSpPr/>
          <p:nvPr/>
        </p:nvSpPr>
        <p:spPr>
          <a:xfrm>
            <a:off x="812800" y="2413000"/>
            <a:ext cx="3695700" cy="952500"/>
          </a:xfrm>
          <a:custGeom>
            <a:avLst/>
            <a:gdLst/>
            <a:ahLst/>
            <a:cxnLst/>
            <a:rect l="l" t="t" r="r" b="b"/>
            <a:pathLst>
              <a:path w="3695700" h="952500">
                <a:moveTo>
                  <a:pt x="101600" y="0"/>
                </a:moveTo>
                <a:lnTo>
                  <a:pt x="3695700" y="0"/>
                </a:lnTo>
                <a:lnTo>
                  <a:pt x="3695700" y="952500"/>
                </a:lnTo>
                <a:lnTo>
                  <a:pt x="101600" y="952500"/>
                </a:lnTo>
                <a:arcTo hR="101600" wR="101600" stAng="5400000" swAng="5400000"/>
                <a:lnTo>
                  <a:pt x="0" y="101600"/>
                </a:lnTo>
                <a:arcTo hR="101600" wR="101600" stAng="10800000" swAng="5400000"/>
                <a:close/>
              </a:path>
            </a:pathLst>
          </a:custGeom>
          <a:solidFill>
            <a:srgbClr val="1C2024"/>
          </a:solidFill>
          <a:ln/>
        </p:spPr>
      </p:sp>
      <p:sp>
        <p:nvSpPr>
          <p:cNvPr id="6" name="Text 4"/>
          <p:cNvSpPr/>
          <p:nvPr/>
        </p:nvSpPr>
        <p:spPr>
          <a:xfrm>
            <a:off x="965200" y="2565400"/>
            <a:ext cx="3492627"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E6B325"/>
                </a:solidFill>
                <a:latin typeface="IBM Plex Mono" pitchFamily="49" charset="0"/>
                <a:ea typeface="IBM Plex Mono" pitchFamily="49" charset="-122"/>
                <a:cs typeface="IBM Plex Mono" pitchFamily="49" charset="-120"/>
              </a:rPr>
              <a:t>35%</a:t>
            </a:r>
            <a:endParaRPr lang="en-US" sz="2600" dirty="0"/>
          </a:p>
        </p:txBody>
      </p:sp>
      <p:sp>
        <p:nvSpPr>
          <p:cNvPr id="7" name="Text 5"/>
          <p:cNvSpPr/>
          <p:nvPr/>
        </p:nvSpPr>
        <p:spPr>
          <a:xfrm>
            <a:off x="965200" y="2928541"/>
            <a:ext cx="34926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9FAF9"/>
                </a:solidFill>
                <a:latin typeface="IBM Plex Sans Arabic" pitchFamily="34" charset="0"/>
                <a:ea typeface="IBM Plex Sans Arabic" pitchFamily="34" charset="-122"/>
                <a:cs typeface="IBM Plex Sans Arabic" pitchFamily="34" charset="-120"/>
              </a:rPr>
              <a:t>Market</a:t>
            </a:r>
            <a:endParaRPr lang="en-US" sz="1300" dirty="0"/>
          </a:p>
        </p:txBody>
      </p:sp>
      <p:sp>
        <p:nvSpPr>
          <p:cNvPr id="8" name="Text 6"/>
          <p:cNvSpPr/>
          <p:nvPr/>
        </p:nvSpPr>
        <p:spPr>
          <a:xfrm>
            <a:off x="812800" y="3492500"/>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Jordan's import volume and its 2020–2024 growth (UN Comtrade / WITS)</a:t>
            </a:r>
            <a:endParaRPr lang="en-US" sz="1200" dirty="0"/>
          </a:p>
        </p:txBody>
      </p:sp>
      <p:sp>
        <p:nvSpPr>
          <p:cNvPr id="9" name="Shape 7"/>
          <p:cNvSpPr/>
          <p:nvPr/>
        </p:nvSpPr>
        <p:spPr>
          <a:xfrm>
            <a:off x="4508500" y="2413000"/>
            <a:ext cx="3168650" cy="952500"/>
          </a:xfrm>
          <a:prstGeom prst="rect">
            <a:avLst/>
          </a:prstGeom>
          <a:solidFill>
            <a:srgbClr val="E6B325"/>
          </a:solidFill>
          <a:ln/>
        </p:spPr>
      </p:sp>
      <p:sp>
        <p:nvSpPr>
          <p:cNvPr id="10" name="Text 8"/>
          <p:cNvSpPr/>
          <p:nvPr/>
        </p:nvSpPr>
        <p:spPr>
          <a:xfrm>
            <a:off x="4660900" y="2565400"/>
            <a:ext cx="2949766"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5181B"/>
                </a:solidFill>
                <a:latin typeface="IBM Plex Mono" pitchFamily="49" charset="0"/>
                <a:ea typeface="IBM Plex Mono" pitchFamily="49" charset="-122"/>
                <a:cs typeface="IBM Plex Mono" pitchFamily="49" charset="-120"/>
              </a:rPr>
              <a:t>30%</a:t>
            </a:r>
            <a:endParaRPr lang="en-US" sz="2600" dirty="0"/>
          </a:p>
        </p:txBody>
      </p:sp>
      <p:sp>
        <p:nvSpPr>
          <p:cNvPr id="11" name="Text 9"/>
          <p:cNvSpPr/>
          <p:nvPr/>
        </p:nvSpPr>
        <p:spPr>
          <a:xfrm>
            <a:off x="4660900" y="2928541"/>
            <a:ext cx="294976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Cost</a:t>
            </a:r>
            <a:endParaRPr lang="en-US" sz="1300" dirty="0"/>
          </a:p>
        </p:txBody>
      </p:sp>
      <p:sp>
        <p:nvSpPr>
          <p:cNvPr id="12" name="Text 10"/>
          <p:cNvSpPr/>
          <p:nvPr/>
        </p:nvSpPr>
        <p:spPr>
          <a:xfrm>
            <a:off x="4610100" y="3492500"/>
            <a:ext cx="30740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Landed cost = CIF price × (1 + customs). Margin = (landed − local cost) ÷ landed</a:t>
            </a:r>
            <a:endParaRPr lang="en-US" sz="1200" dirty="0"/>
          </a:p>
        </p:txBody>
      </p:sp>
      <p:sp>
        <p:nvSpPr>
          <p:cNvPr id="13" name="Shape 11"/>
          <p:cNvSpPr/>
          <p:nvPr/>
        </p:nvSpPr>
        <p:spPr>
          <a:xfrm>
            <a:off x="7677150" y="2413000"/>
            <a:ext cx="2114550" cy="952500"/>
          </a:xfrm>
          <a:prstGeom prst="rect">
            <a:avLst/>
          </a:prstGeom>
          <a:solidFill>
            <a:srgbClr val="596067"/>
          </a:solidFill>
          <a:ln/>
        </p:spPr>
      </p:sp>
      <p:sp>
        <p:nvSpPr>
          <p:cNvPr id="14" name="Text 12"/>
          <p:cNvSpPr/>
          <p:nvPr/>
        </p:nvSpPr>
        <p:spPr>
          <a:xfrm>
            <a:off x="7829550" y="2565400"/>
            <a:ext cx="1864043"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F9FAF9"/>
                </a:solidFill>
                <a:latin typeface="IBM Plex Mono" pitchFamily="49" charset="0"/>
                <a:ea typeface="IBM Plex Mono" pitchFamily="49" charset="-122"/>
                <a:cs typeface="IBM Plex Mono" pitchFamily="49" charset="-120"/>
              </a:rPr>
              <a:t>20%</a:t>
            </a:r>
            <a:endParaRPr lang="en-US" sz="2600" dirty="0"/>
          </a:p>
        </p:txBody>
      </p:sp>
      <p:sp>
        <p:nvSpPr>
          <p:cNvPr id="15" name="Text 13"/>
          <p:cNvSpPr/>
          <p:nvPr/>
        </p:nvSpPr>
        <p:spPr>
          <a:xfrm>
            <a:off x="7829550" y="2928541"/>
            <a:ext cx="186404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9FAF9"/>
                </a:solidFill>
                <a:latin typeface="IBM Plex Sans Arabic" pitchFamily="34" charset="0"/>
                <a:ea typeface="IBM Plex Sans Arabic" pitchFamily="34" charset="-122"/>
                <a:cs typeface="IBM Plex Sans Arabic" pitchFamily="34" charset="-120"/>
              </a:rPr>
              <a:t>Feasibility</a:t>
            </a:r>
            <a:endParaRPr lang="en-US" sz="1300" dirty="0"/>
          </a:p>
        </p:txBody>
      </p:sp>
      <p:sp>
        <p:nvSpPr>
          <p:cNvPr id="16" name="Text 14"/>
          <p:cNvSpPr/>
          <p:nvPr/>
        </p:nvSpPr>
        <p:spPr>
          <a:xfrm>
            <a:off x="7778750" y="3492500"/>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Machinery, raw materials and skills, each rated 0–5</a:t>
            </a:r>
            <a:endParaRPr lang="en-US" sz="1200" dirty="0"/>
          </a:p>
        </p:txBody>
      </p:sp>
      <p:sp>
        <p:nvSpPr>
          <p:cNvPr id="17" name="Shape 15"/>
          <p:cNvSpPr/>
          <p:nvPr/>
        </p:nvSpPr>
        <p:spPr>
          <a:xfrm>
            <a:off x="9791700" y="2413000"/>
            <a:ext cx="1587500" cy="952500"/>
          </a:xfrm>
          <a:custGeom>
            <a:avLst/>
            <a:gdLst/>
            <a:ahLst/>
            <a:cxnLst/>
            <a:rect l="l" t="t" r="r" b="b"/>
            <a:pathLst>
              <a:path w="1587500" h="952500">
                <a:moveTo>
                  <a:pt x="0" y="0"/>
                </a:moveTo>
                <a:lnTo>
                  <a:pt x="1485900" y="0"/>
                </a:lnTo>
                <a:arcTo hR="101600" wR="101600" stAng="16200000" swAng="5400000"/>
                <a:lnTo>
                  <a:pt x="1587500" y="850900"/>
                </a:lnTo>
                <a:arcTo hR="101600" wR="101600" stAng="0" swAng="5400000"/>
                <a:lnTo>
                  <a:pt x="0" y="952500"/>
                </a:lnTo>
                <a:lnTo>
                  <a:pt x="0" y="0"/>
                </a:lnTo>
                <a:close/>
              </a:path>
            </a:pathLst>
          </a:custGeom>
          <a:solidFill>
            <a:srgbClr val="E0E3E1"/>
          </a:solidFill>
          <a:ln/>
        </p:spPr>
      </p:sp>
      <p:sp>
        <p:nvSpPr>
          <p:cNvPr id="18" name="Text 16"/>
          <p:cNvSpPr/>
          <p:nvPr/>
        </p:nvSpPr>
        <p:spPr>
          <a:xfrm>
            <a:off x="9944100" y="2565400"/>
            <a:ext cx="1333500" cy="388541"/>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5181B"/>
                </a:solidFill>
                <a:latin typeface="IBM Plex Mono" pitchFamily="49" charset="0"/>
                <a:ea typeface="IBM Plex Mono" pitchFamily="49" charset="-122"/>
                <a:cs typeface="IBM Plex Mono" pitchFamily="49" charset="-120"/>
              </a:rPr>
              <a:t>15%</a:t>
            </a:r>
            <a:endParaRPr lang="en-US" sz="2600" dirty="0"/>
          </a:p>
        </p:txBody>
      </p:sp>
      <p:sp>
        <p:nvSpPr>
          <p:cNvPr id="19" name="Text 17"/>
          <p:cNvSpPr/>
          <p:nvPr/>
        </p:nvSpPr>
        <p:spPr>
          <a:xfrm>
            <a:off x="9944100" y="2928541"/>
            <a:ext cx="13335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Competition</a:t>
            </a:r>
            <a:endParaRPr lang="en-US" sz="1300" dirty="0"/>
          </a:p>
        </p:txBody>
      </p:sp>
      <p:sp>
        <p:nvSpPr>
          <p:cNvPr id="20" name="Text 18"/>
          <p:cNvSpPr/>
          <p:nvPr/>
        </p:nvSpPr>
        <p:spPr>
          <a:xfrm>
            <a:off x="9893300" y="3492500"/>
            <a:ext cx="15367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Local factories vs market saturation</a:t>
            </a:r>
            <a:endParaRPr lang="en-US" sz="1200" dirty="0"/>
          </a:p>
        </p:txBody>
      </p:sp>
      <p:sp>
        <p:nvSpPr>
          <p:cNvPr id="21" name="Text 19"/>
          <p:cNvSpPr/>
          <p:nvPr/>
        </p:nvSpPr>
        <p:spPr>
          <a:xfrm>
            <a:off x="812800" y="4889500"/>
            <a:ext cx="3420467" cy="538460"/>
          </a:xfrm>
          <a:prstGeom prst="roundRect">
            <a:avLst>
              <a:gd name="adj" fmla="val 18869"/>
            </a:avLst>
          </a:prstGeom>
          <a:solidFill>
            <a:srgbClr val="E6B325"/>
          </a:solidFill>
          <a:ln/>
        </p:spPr>
        <p:txBody>
          <a:bodyPr wrap="square" lIns="173442" tIns="97242" rIns="83020" bIns="71842" rtlCol="0" anchor="t">
            <a:normAutofit/>
          </a:bodyPr>
          <a:lstStyle/>
          <a:p>
            <a:pPr algn="l" indent="0" marL="0">
              <a:lnSpc>
                <a:spcPts val="2240"/>
              </a:lnSpc>
              <a:buNone/>
            </a:pPr>
            <a:r>
              <a:rPr lang="en-US" sz="1600" b="1" dirty="0">
                <a:solidFill>
                  <a:srgbClr val="15181B"/>
                </a:solidFill>
                <a:latin typeface="Alexandria" pitchFamily="34" charset="0"/>
                <a:ea typeface="Alexandria" pitchFamily="34" charset="-122"/>
                <a:cs typeface="Alexandria" pitchFamily="34" charset="-120"/>
              </a:rPr>
              <a:t>≥ 6 · MANUFACTURE</a:t>
            </a:r>
            <a:endParaRPr lang="en-US" sz="1600" dirty="0"/>
          </a:p>
        </p:txBody>
      </p:sp>
      <p:sp>
        <p:nvSpPr>
          <p:cNvPr id="22" name="Text 20"/>
          <p:cNvSpPr/>
          <p:nvPr/>
        </p:nvSpPr>
        <p:spPr>
          <a:xfrm>
            <a:off x="4385667" y="4889500"/>
            <a:ext cx="3420566" cy="538460"/>
          </a:xfrm>
          <a:prstGeom prst="roundRect">
            <a:avLst>
              <a:gd name="adj" fmla="val 18869"/>
            </a:avLst>
          </a:prstGeom>
          <a:solidFill>
            <a:srgbClr val="596067"/>
          </a:solidFill>
          <a:ln/>
        </p:spPr>
        <p:txBody>
          <a:bodyPr wrap="square" lIns="173442" tIns="97242" rIns="83017" bIns="71842" rtlCol="0" anchor="t">
            <a:normAutofit/>
          </a:bodyPr>
          <a:lstStyle/>
          <a:p>
            <a:pPr algn="l" indent="0" marL="0">
              <a:lnSpc>
                <a:spcPts val="2240"/>
              </a:lnSpc>
              <a:buNone/>
            </a:pPr>
            <a:r>
              <a:rPr lang="en-US" sz="1600" b="1" dirty="0">
                <a:solidFill>
                  <a:srgbClr val="F9FAF9"/>
                </a:solidFill>
                <a:latin typeface="Alexandria" pitchFamily="34" charset="0"/>
                <a:ea typeface="Alexandria" pitchFamily="34" charset="-122"/>
                <a:cs typeface="Alexandria" pitchFamily="34" charset="-120"/>
              </a:rPr>
              <a:t>≥ 4 · MAYBE</a:t>
            </a:r>
            <a:endParaRPr lang="en-US" sz="1600" dirty="0"/>
          </a:p>
        </p:txBody>
      </p:sp>
      <p:sp>
        <p:nvSpPr>
          <p:cNvPr id="23" name="Text 21"/>
          <p:cNvSpPr/>
          <p:nvPr/>
        </p:nvSpPr>
        <p:spPr>
          <a:xfrm>
            <a:off x="7958634" y="4889500"/>
            <a:ext cx="3420566" cy="538460"/>
          </a:xfrm>
          <a:prstGeom prst="roundRect">
            <a:avLst>
              <a:gd name="adj" fmla="val 18869"/>
            </a:avLst>
          </a:prstGeom>
          <a:solidFill>
            <a:srgbClr val="B3412E"/>
          </a:solidFill>
          <a:ln/>
        </p:spPr>
        <p:txBody>
          <a:bodyPr wrap="square" lIns="173442" tIns="97242" rIns="83017" bIns="71842" rtlCol="0" anchor="t">
            <a:normAutofit/>
          </a:bodyPr>
          <a:lstStyle/>
          <a:p>
            <a:pPr algn="l" indent="0" marL="0">
              <a:lnSpc>
                <a:spcPts val="2240"/>
              </a:lnSpc>
              <a:buNone/>
            </a:pPr>
            <a:r>
              <a:rPr lang="en-US" sz="1600" b="1" dirty="0">
                <a:solidFill>
                  <a:srgbClr val="F9FAF9"/>
                </a:solidFill>
                <a:latin typeface="Alexandria" pitchFamily="34" charset="0"/>
                <a:ea typeface="Alexandria" pitchFamily="34" charset="-122"/>
                <a:cs typeface="Alexandria" pitchFamily="34" charset="-120"/>
              </a:rPr>
              <a:t>&lt; 4 · DON'T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0E3E1"/>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259830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96067"/>
                </a:solidFill>
                <a:latin typeface="IBM Plex Sans Arabic" pitchFamily="34" charset="0"/>
                <a:ea typeface="IBM Plex Sans Arabic" pitchFamily="34" charset="-122"/>
                <a:cs typeface="IBM Plex Sans Arabic" pitchFamily="34" charset="-120"/>
              </a:rPr>
              <a:t>BUILT-IN HONESTY RULES</a:t>
            </a:r>
            <a:endParaRPr lang="en-US" sz="1200" dirty="0"/>
          </a:p>
        </p:txBody>
      </p:sp>
      <p:sp>
        <p:nvSpPr>
          <p:cNvPr id="4" name="Text 2"/>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B"/>
                </a:solidFill>
                <a:latin typeface="Alexandria" pitchFamily="34" charset="0"/>
                <a:ea typeface="Alexandria" pitchFamily="34" charset="-122"/>
                <a:cs typeface="Alexandria" pitchFamily="34" charset="-120"/>
              </a:rPr>
              <a:t>It says no when an idea isn't worth it.</a:t>
            </a:r>
            <a:endParaRPr lang="en-US" sz="3600" dirty="0"/>
          </a:p>
        </p:txBody>
      </p:sp>
      <p:sp>
        <p:nvSpPr>
          <p:cNvPr id="5" name="Shape 3"/>
          <p:cNvSpPr/>
          <p:nvPr/>
        </p:nvSpPr>
        <p:spPr>
          <a:xfrm>
            <a:off x="815975" y="2040136"/>
            <a:ext cx="5175250" cy="2020590"/>
          </a:xfrm>
          <a:prstGeom prst="roundRect">
            <a:avLst>
              <a:gd name="adj" fmla="val 4871"/>
            </a:avLst>
          </a:prstGeom>
          <a:solidFill>
            <a:srgbClr val="F9FAF9"/>
          </a:solidFill>
          <a:ln w="6350">
            <a:solidFill>
              <a:srgbClr val="D5D9D6"/>
            </a:solidFill>
            <a:prstDash val="solid"/>
          </a:ln>
        </p:spPr>
      </p:sp>
      <p:pic>
        <p:nvPicPr>
          <p:cNvPr id="6" name="Image 0" descr="Lock">    </p:cNvPr>
          <p:cNvPicPr>
            <a:picLocks noChangeAspect="1"/>
          </p:cNvPicPr>
          <p:nvPr/>
        </p:nvPicPr>
        <p:blipFill>
          <a:blip r:embed="rId1"/>
          <a:srcRect l="0" r="0" t="0" b="0"/>
          <a:stretch/>
        </p:blipFill>
        <p:spPr>
          <a:xfrm>
            <a:off x="1073150" y="2297311"/>
            <a:ext cx="304800" cy="304800"/>
          </a:xfrm>
          <a:prstGeom prst="rect">
            <a:avLst/>
          </a:prstGeom>
        </p:spPr>
      </p:pic>
      <p:sp>
        <p:nvSpPr>
          <p:cNvPr id="7" name="Text 4"/>
          <p:cNvSpPr/>
          <p:nvPr/>
        </p:nvSpPr>
        <p:spPr>
          <a:xfrm>
            <a:off x="1530350" y="2297311"/>
            <a:ext cx="43298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B"/>
                </a:solidFill>
                <a:latin typeface="Alexandria" pitchFamily="34" charset="0"/>
                <a:ea typeface="Alexandria" pitchFamily="34" charset="-122"/>
                <a:cs typeface="Alexandria" pitchFamily="34" charset="-120"/>
              </a:rPr>
              <a:t>Cost gate</a:t>
            </a:r>
            <a:endParaRPr lang="en-US" sz="1800" dirty="0"/>
          </a:p>
        </p:txBody>
      </p:sp>
      <p:sp>
        <p:nvSpPr>
          <p:cNvPr id="8" name="Text 5"/>
          <p:cNvSpPr/>
          <p:nvPr/>
        </p:nvSpPr>
        <p:spPr>
          <a:xfrm>
            <a:off x="1530350" y="2647752"/>
            <a:ext cx="432981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067"/>
                </a:solidFill>
                <a:latin typeface="IBM Plex Sans Arabic" pitchFamily="34" charset="0"/>
                <a:ea typeface="IBM Plex Sans Arabic" pitchFamily="34" charset="-122"/>
                <a:cs typeface="IBM Plex Sans Arabic" pitchFamily="34" charset="-120"/>
              </a:rPr>
              <a:t>Local cost above import cost? Never MANUFACTURE. More than 25% above? DON'T.</a:t>
            </a:r>
            <a:endParaRPr lang="en-US" sz="1400" dirty="0"/>
          </a:p>
        </p:txBody>
      </p:sp>
      <p:sp>
        <p:nvSpPr>
          <p:cNvPr id="9" name="Shape 6"/>
          <p:cNvSpPr/>
          <p:nvPr/>
        </p:nvSpPr>
        <p:spPr>
          <a:xfrm>
            <a:off x="6200775" y="2040136"/>
            <a:ext cx="5175250" cy="2020590"/>
          </a:xfrm>
          <a:prstGeom prst="roundRect">
            <a:avLst>
              <a:gd name="adj" fmla="val 4871"/>
            </a:avLst>
          </a:prstGeom>
          <a:solidFill>
            <a:srgbClr val="F9FAF9"/>
          </a:solidFill>
          <a:ln w="6350">
            <a:solidFill>
              <a:srgbClr val="D5D9D6"/>
            </a:solidFill>
            <a:prstDash val="solid"/>
          </a:ln>
        </p:spPr>
      </p:sp>
      <p:pic>
        <p:nvPicPr>
          <p:cNvPr id="10" name="Image 1" descr="Database">    </p:cNvPr>
          <p:cNvPicPr>
            <a:picLocks noChangeAspect="1"/>
          </p:cNvPicPr>
          <p:nvPr/>
        </p:nvPicPr>
        <p:blipFill>
          <a:blip r:embed="rId2"/>
          <a:srcRect l="0" r="0" t="0" b="0"/>
          <a:stretch/>
        </p:blipFill>
        <p:spPr>
          <a:xfrm>
            <a:off x="6457950" y="2297311"/>
            <a:ext cx="304800" cy="304800"/>
          </a:xfrm>
          <a:prstGeom prst="rect">
            <a:avLst/>
          </a:prstGeom>
        </p:spPr>
      </p:pic>
      <p:sp>
        <p:nvSpPr>
          <p:cNvPr id="11" name="Text 7"/>
          <p:cNvSpPr/>
          <p:nvPr/>
        </p:nvSpPr>
        <p:spPr>
          <a:xfrm>
            <a:off x="6915150" y="2297311"/>
            <a:ext cx="43298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B"/>
                </a:solidFill>
                <a:latin typeface="Alexandria" pitchFamily="34" charset="0"/>
                <a:ea typeface="Alexandria" pitchFamily="34" charset="-122"/>
                <a:cs typeface="Alexandria" pitchFamily="34" charset="-120"/>
              </a:rPr>
              <a:t>Data completeness</a:t>
            </a:r>
            <a:endParaRPr lang="en-US" sz="1800" dirty="0"/>
          </a:p>
        </p:txBody>
      </p:sp>
      <p:sp>
        <p:nvSpPr>
          <p:cNvPr id="12" name="Text 8"/>
          <p:cNvSpPr/>
          <p:nvPr/>
        </p:nvSpPr>
        <p:spPr>
          <a:xfrm>
            <a:off x="6915150" y="2647752"/>
            <a:ext cx="432981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067"/>
                </a:solidFill>
                <a:latin typeface="IBM Plex Sans Arabic" pitchFamily="34" charset="0"/>
                <a:ea typeface="IBM Plex Sans Arabic" pitchFamily="34" charset="-122"/>
                <a:cs typeface="IBM Plex Sans Arabic" pitchFamily="34" charset="-120"/>
              </a:rPr>
              <a:t>Below 80% complete data, the verdict is held at MAYBE.</a:t>
            </a:r>
            <a:endParaRPr lang="en-US" sz="1400" dirty="0"/>
          </a:p>
        </p:txBody>
      </p:sp>
      <p:sp>
        <p:nvSpPr>
          <p:cNvPr id="13" name="Shape 9"/>
          <p:cNvSpPr/>
          <p:nvPr/>
        </p:nvSpPr>
        <p:spPr>
          <a:xfrm>
            <a:off x="815975" y="4270276"/>
            <a:ext cx="5175250" cy="1771749"/>
          </a:xfrm>
          <a:prstGeom prst="roundRect">
            <a:avLst>
              <a:gd name="adj" fmla="val 5555"/>
            </a:avLst>
          </a:prstGeom>
          <a:solidFill>
            <a:srgbClr val="F9FAF9"/>
          </a:solidFill>
          <a:ln w="6350">
            <a:solidFill>
              <a:srgbClr val="D5D9D6"/>
            </a:solidFill>
            <a:prstDash val="solid"/>
          </a:ln>
        </p:spPr>
      </p:sp>
      <p:pic>
        <p:nvPicPr>
          <p:cNvPr id="14" name="Image 2" descr="Warning">    </p:cNvPr>
          <p:cNvPicPr>
            <a:picLocks noChangeAspect="1"/>
          </p:cNvPicPr>
          <p:nvPr/>
        </p:nvPicPr>
        <p:blipFill>
          <a:blip r:embed="rId3"/>
          <a:srcRect l="0" r="0" t="0" b="0"/>
          <a:stretch/>
        </p:blipFill>
        <p:spPr>
          <a:xfrm>
            <a:off x="1073150" y="4527451"/>
            <a:ext cx="304800" cy="304800"/>
          </a:xfrm>
          <a:prstGeom prst="rect">
            <a:avLst/>
          </a:prstGeom>
        </p:spPr>
      </p:pic>
      <p:sp>
        <p:nvSpPr>
          <p:cNvPr id="15" name="Text 10"/>
          <p:cNvSpPr/>
          <p:nvPr/>
        </p:nvSpPr>
        <p:spPr>
          <a:xfrm>
            <a:off x="1530350" y="4527451"/>
            <a:ext cx="43298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B"/>
                </a:solidFill>
                <a:latin typeface="Alexandria" pitchFamily="34" charset="0"/>
                <a:ea typeface="Alexandria" pitchFamily="34" charset="-122"/>
                <a:cs typeface="Alexandria" pitchFamily="34" charset="-120"/>
              </a:rPr>
              <a:t>High capital warning</a:t>
            </a:r>
            <a:endParaRPr lang="en-US" sz="1800" dirty="0"/>
          </a:p>
        </p:txBody>
      </p:sp>
      <p:sp>
        <p:nvSpPr>
          <p:cNvPr id="16" name="Text 11"/>
          <p:cNvSpPr/>
          <p:nvPr/>
        </p:nvSpPr>
        <p:spPr>
          <a:xfrm>
            <a:off x="1530350" y="4877891"/>
            <a:ext cx="432981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067"/>
                </a:solidFill>
                <a:latin typeface="IBM Plex Sans Arabic" pitchFamily="34" charset="0"/>
                <a:ea typeface="IBM Plex Sans Arabic" pitchFamily="34" charset="-122"/>
                <a:cs typeface="IBM Plex Sans Arabic" pitchFamily="34" charset="-120"/>
              </a:rPr>
              <a:t>Equipment of USD 250,000 or more is flagged.</a:t>
            </a:r>
            <a:endParaRPr lang="en-US" sz="1400" dirty="0"/>
          </a:p>
        </p:txBody>
      </p:sp>
      <p:sp>
        <p:nvSpPr>
          <p:cNvPr id="17" name="Shape 12"/>
          <p:cNvSpPr/>
          <p:nvPr/>
        </p:nvSpPr>
        <p:spPr>
          <a:xfrm>
            <a:off x="6200775" y="4270276"/>
            <a:ext cx="5175250" cy="1771749"/>
          </a:xfrm>
          <a:prstGeom prst="roundRect">
            <a:avLst>
              <a:gd name="adj" fmla="val 5555"/>
            </a:avLst>
          </a:prstGeom>
          <a:solidFill>
            <a:srgbClr val="F9FAF9"/>
          </a:solidFill>
          <a:ln w="6350">
            <a:solidFill>
              <a:srgbClr val="D5D9D6"/>
            </a:solidFill>
            <a:prstDash val="solid"/>
          </a:ln>
        </p:spPr>
      </p:sp>
      <p:pic>
        <p:nvPicPr>
          <p:cNvPr id="18" name="Image 3" descr="Verified">    </p:cNvPr>
          <p:cNvPicPr>
            <a:picLocks noChangeAspect="1"/>
          </p:cNvPicPr>
          <p:nvPr/>
        </p:nvPicPr>
        <p:blipFill>
          <a:blip r:embed="rId4"/>
          <a:srcRect l="0" r="0" t="0" b="0"/>
          <a:stretch/>
        </p:blipFill>
        <p:spPr>
          <a:xfrm>
            <a:off x="6457950" y="4527451"/>
            <a:ext cx="304800" cy="304800"/>
          </a:xfrm>
          <a:prstGeom prst="rect">
            <a:avLst/>
          </a:prstGeom>
        </p:spPr>
      </p:pic>
      <p:sp>
        <p:nvSpPr>
          <p:cNvPr id="19" name="Text 13"/>
          <p:cNvSpPr/>
          <p:nvPr/>
        </p:nvSpPr>
        <p:spPr>
          <a:xfrm>
            <a:off x="6915150" y="4527451"/>
            <a:ext cx="43298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B"/>
                </a:solidFill>
                <a:latin typeface="Alexandria" pitchFamily="34" charset="0"/>
                <a:ea typeface="Alexandria" pitchFamily="34" charset="-122"/>
                <a:cs typeface="Alexandria" pitchFamily="34" charset="-120"/>
              </a:rPr>
              <a:t>Every number has a source</a:t>
            </a:r>
            <a:endParaRPr lang="en-US" sz="1800" dirty="0"/>
          </a:p>
        </p:txBody>
      </p:sp>
      <p:sp>
        <p:nvSpPr>
          <p:cNvPr id="20" name="Text 14"/>
          <p:cNvSpPr/>
          <p:nvPr/>
        </p:nvSpPr>
        <p:spPr>
          <a:xfrm>
            <a:off x="6915150" y="4877891"/>
            <a:ext cx="432981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96067"/>
                </a:solidFill>
                <a:latin typeface="IBM Plex Sans Arabic" pitchFamily="34" charset="0"/>
                <a:ea typeface="IBM Plex Sans Arabic" pitchFamily="34" charset="-122"/>
                <a:cs typeface="IBM Plex Sans Arabic" pitchFamily="34" charset="-120"/>
              </a:rPr>
              <a:t>Estimated values are clearly labelled "estimate".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EEC"/>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144208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96067"/>
                </a:solidFill>
                <a:latin typeface="IBM Plex Sans Arabic" pitchFamily="34" charset="0"/>
                <a:ea typeface="IBM Plex Sans Arabic" pitchFamily="34" charset="-122"/>
                <a:cs typeface="IBM Plex Sans Arabic" pitchFamily="34" charset="-120"/>
              </a:rPr>
              <a:t>REAL RESULTS</a:t>
            </a:r>
            <a:endParaRPr lang="en-US" sz="1200" dirty="0"/>
          </a:p>
        </p:txBody>
      </p:sp>
      <p:sp>
        <p:nvSpPr>
          <p:cNvPr id="4" name="Text 2"/>
          <p:cNvSpPr/>
          <p:nvPr>
            <p:ph type="title"/>
          </p:nvPr>
        </p:nvSpPr>
        <p:spPr>
          <a:xfrm>
            <a:off x="812800" y="11785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B"/>
                </a:solidFill>
                <a:latin typeface="Alexandria" pitchFamily="34" charset="0"/>
                <a:ea typeface="Alexandria" pitchFamily="34" charset="-122"/>
                <a:cs typeface="Alexandria" pitchFamily="34" charset="-120"/>
              </a:rPr>
              <a:t>Six products, scored from real data</a:t>
            </a:r>
            <a:endParaRPr lang="en-US" sz="3600" dirty="0"/>
          </a:p>
        </p:txBody>
      </p:sp>
      <p:pic>
        <p:nvPicPr>
          <p:cNvPr id="5" name="Image 0" descr="line">    </p:cNvPr>
          <p:cNvPicPr>
            <a:picLocks noChangeAspect="1"/>
          </p:cNvPicPr>
          <p:nvPr/>
        </p:nvPicPr>
        <p:blipFill>
          <a:blip r:embed="rId1"/>
          <a:srcRect l="0" r="0" t="0" b="0"/>
          <a:stretch/>
        </p:blipFill>
        <p:spPr>
          <a:xfrm>
            <a:off x="812800" y="3200400"/>
            <a:ext cx="10566400" cy="25400"/>
          </a:xfrm>
          <a:prstGeom prst="rect">
            <a:avLst/>
          </a:prstGeom>
        </p:spPr>
      </p:pic>
      <p:sp>
        <p:nvSpPr>
          <p:cNvPr id="6" name="Text 3"/>
          <p:cNvSpPr/>
          <p:nvPr/>
        </p:nvSpPr>
        <p:spPr>
          <a:xfrm>
            <a:off x="9469374" y="2908300"/>
            <a:ext cx="190982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 6 = MANUFACTURE</a:t>
            </a:r>
            <a:endParaRPr lang="en-US" sz="1200" dirty="0"/>
          </a:p>
        </p:txBody>
      </p:sp>
      <p:pic>
        <p:nvPicPr>
          <p:cNvPr id="7" name="Image 1" descr="line">    </p:cNvPr>
          <p:cNvPicPr>
            <a:picLocks noChangeAspect="1"/>
          </p:cNvPicPr>
          <p:nvPr/>
        </p:nvPicPr>
        <p:blipFill>
          <a:blip r:embed="rId2"/>
          <a:srcRect l="0" r="0" t="0" b="0"/>
          <a:stretch/>
        </p:blipFill>
        <p:spPr>
          <a:xfrm>
            <a:off x="812800" y="5334000"/>
            <a:ext cx="10566400" cy="25400"/>
          </a:xfrm>
          <a:prstGeom prst="rect">
            <a:avLst/>
          </a:prstGeom>
        </p:spPr>
      </p:pic>
      <p:sp>
        <p:nvSpPr>
          <p:cNvPr id="8" name="Shape 4"/>
          <p:cNvSpPr/>
          <p:nvPr/>
        </p:nvSpPr>
        <p:spPr>
          <a:xfrm>
            <a:off x="1117600" y="2844800"/>
            <a:ext cx="1143000" cy="2489200"/>
          </a:xfrm>
          <a:custGeom>
            <a:avLst/>
            <a:gdLst/>
            <a:ahLst/>
            <a:cxnLst/>
            <a:rect l="l" t="t" r="r" b="b"/>
            <a:pathLst>
              <a:path w="1143000" h="2489200">
                <a:moveTo>
                  <a:pt x="76200" y="0"/>
                </a:moveTo>
                <a:lnTo>
                  <a:pt x="1066800" y="0"/>
                </a:lnTo>
                <a:arcTo hR="76200" wR="76200" stAng="16200000" swAng="5400000"/>
                <a:lnTo>
                  <a:pt x="1143000" y="2489200"/>
                </a:lnTo>
                <a:lnTo>
                  <a:pt x="0" y="2489200"/>
                </a:lnTo>
                <a:lnTo>
                  <a:pt x="0" y="76200"/>
                </a:lnTo>
                <a:arcTo hR="76200" wR="76200" stAng="10800000" swAng="5400000"/>
                <a:close/>
              </a:path>
            </a:pathLst>
          </a:custGeom>
          <a:solidFill>
            <a:srgbClr val="E6B325"/>
          </a:solidFill>
          <a:ln/>
        </p:spPr>
      </p:sp>
      <p:sp>
        <p:nvSpPr>
          <p:cNvPr id="9" name="Text 5"/>
          <p:cNvSpPr/>
          <p:nvPr/>
        </p:nvSpPr>
        <p:spPr>
          <a:xfrm>
            <a:off x="1092200" y="2463800"/>
            <a:ext cx="1193800"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5181B"/>
                </a:solidFill>
                <a:latin typeface="IBM Plex Mono" pitchFamily="49" charset="0"/>
                <a:ea typeface="IBM Plex Mono" pitchFamily="49" charset="-122"/>
                <a:cs typeface="IBM Plex Mono" pitchFamily="49" charset="-120"/>
              </a:rPr>
              <a:t>7.0</a:t>
            </a:r>
            <a:endParaRPr lang="en-US" sz="2000" dirty="0"/>
          </a:p>
        </p:txBody>
      </p:sp>
      <p:sp>
        <p:nvSpPr>
          <p:cNvPr id="10" name="Shape 6"/>
          <p:cNvSpPr/>
          <p:nvPr/>
        </p:nvSpPr>
        <p:spPr>
          <a:xfrm>
            <a:off x="2876550" y="2774950"/>
            <a:ext cx="1143000" cy="2559050"/>
          </a:xfrm>
          <a:custGeom>
            <a:avLst/>
            <a:gdLst/>
            <a:ahLst/>
            <a:cxnLst/>
            <a:rect l="l" t="t" r="r" b="b"/>
            <a:pathLst>
              <a:path w="1143000" h="2559050">
                <a:moveTo>
                  <a:pt x="76200" y="0"/>
                </a:moveTo>
                <a:lnTo>
                  <a:pt x="1066800" y="0"/>
                </a:lnTo>
                <a:arcTo hR="76200" wR="76200" stAng="16200000" swAng="5400000"/>
                <a:lnTo>
                  <a:pt x="1143000" y="2559050"/>
                </a:lnTo>
                <a:lnTo>
                  <a:pt x="0" y="2559050"/>
                </a:lnTo>
                <a:lnTo>
                  <a:pt x="0" y="76200"/>
                </a:lnTo>
                <a:arcTo hR="76200" wR="76200" stAng="10800000" swAng="5400000"/>
                <a:close/>
              </a:path>
            </a:pathLst>
          </a:custGeom>
          <a:solidFill>
            <a:srgbClr val="E6B325"/>
          </a:solidFill>
          <a:ln/>
        </p:spPr>
      </p:sp>
      <p:sp>
        <p:nvSpPr>
          <p:cNvPr id="11" name="Text 7"/>
          <p:cNvSpPr/>
          <p:nvPr/>
        </p:nvSpPr>
        <p:spPr>
          <a:xfrm>
            <a:off x="2851150" y="2393950"/>
            <a:ext cx="1193800"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5181B"/>
                </a:solidFill>
                <a:latin typeface="IBM Plex Mono" pitchFamily="49" charset="0"/>
                <a:ea typeface="IBM Plex Mono" pitchFamily="49" charset="-122"/>
                <a:cs typeface="IBM Plex Mono" pitchFamily="49" charset="-120"/>
              </a:rPr>
              <a:t>7.2</a:t>
            </a:r>
            <a:endParaRPr lang="en-US" sz="2000" dirty="0"/>
          </a:p>
        </p:txBody>
      </p:sp>
      <p:sp>
        <p:nvSpPr>
          <p:cNvPr id="12" name="Shape 8"/>
          <p:cNvSpPr/>
          <p:nvPr/>
        </p:nvSpPr>
        <p:spPr>
          <a:xfrm>
            <a:off x="4635500" y="3130550"/>
            <a:ext cx="1143000" cy="2203450"/>
          </a:xfrm>
          <a:custGeom>
            <a:avLst/>
            <a:gdLst/>
            <a:ahLst/>
            <a:cxnLst/>
            <a:rect l="l" t="t" r="r" b="b"/>
            <a:pathLst>
              <a:path w="1143000" h="2203450">
                <a:moveTo>
                  <a:pt x="76200" y="0"/>
                </a:moveTo>
                <a:lnTo>
                  <a:pt x="1066800" y="0"/>
                </a:lnTo>
                <a:arcTo hR="76200" wR="76200" stAng="16200000" swAng="5400000"/>
                <a:lnTo>
                  <a:pt x="1143000" y="2203450"/>
                </a:lnTo>
                <a:lnTo>
                  <a:pt x="0" y="2203450"/>
                </a:lnTo>
                <a:lnTo>
                  <a:pt x="0" y="76200"/>
                </a:lnTo>
                <a:arcTo hR="76200" wR="76200" stAng="10800000" swAng="5400000"/>
                <a:close/>
              </a:path>
            </a:pathLst>
          </a:custGeom>
          <a:solidFill>
            <a:srgbClr val="E6B325"/>
          </a:solidFill>
          <a:ln/>
        </p:spPr>
      </p:sp>
      <p:sp>
        <p:nvSpPr>
          <p:cNvPr id="13" name="Text 9"/>
          <p:cNvSpPr/>
          <p:nvPr/>
        </p:nvSpPr>
        <p:spPr>
          <a:xfrm>
            <a:off x="4610100" y="2749550"/>
            <a:ext cx="1193800"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5181B"/>
                </a:solidFill>
                <a:latin typeface="IBM Plex Mono" pitchFamily="49" charset="0"/>
                <a:ea typeface="IBM Plex Mono" pitchFamily="49" charset="-122"/>
                <a:cs typeface="IBM Plex Mono" pitchFamily="49" charset="-120"/>
              </a:rPr>
              <a:t>6.2</a:t>
            </a:r>
            <a:endParaRPr lang="en-US" sz="2000" dirty="0"/>
          </a:p>
        </p:txBody>
      </p:sp>
      <p:sp>
        <p:nvSpPr>
          <p:cNvPr id="14" name="Shape 10"/>
          <p:cNvSpPr/>
          <p:nvPr/>
        </p:nvSpPr>
        <p:spPr>
          <a:xfrm>
            <a:off x="6394450" y="3486150"/>
            <a:ext cx="1143000" cy="1847850"/>
          </a:xfrm>
          <a:custGeom>
            <a:avLst/>
            <a:gdLst/>
            <a:ahLst/>
            <a:cxnLst/>
            <a:rect l="l" t="t" r="r" b="b"/>
            <a:pathLst>
              <a:path w="1143000" h="1847850">
                <a:moveTo>
                  <a:pt x="76200" y="0"/>
                </a:moveTo>
                <a:lnTo>
                  <a:pt x="1066800" y="0"/>
                </a:lnTo>
                <a:arcTo hR="76200" wR="76200" stAng="16200000" swAng="5400000"/>
                <a:lnTo>
                  <a:pt x="1143000" y="1847850"/>
                </a:lnTo>
                <a:lnTo>
                  <a:pt x="0" y="1847850"/>
                </a:lnTo>
                <a:lnTo>
                  <a:pt x="0" y="76200"/>
                </a:lnTo>
                <a:arcTo hR="76200" wR="76200" stAng="10800000" swAng="5400000"/>
                <a:close/>
              </a:path>
            </a:pathLst>
          </a:custGeom>
          <a:solidFill>
            <a:srgbClr val="596067"/>
          </a:solidFill>
          <a:ln/>
        </p:spPr>
      </p:sp>
      <p:sp>
        <p:nvSpPr>
          <p:cNvPr id="15" name="Text 11"/>
          <p:cNvSpPr/>
          <p:nvPr/>
        </p:nvSpPr>
        <p:spPr>
          <a:xfrm>
            <a:off x="6369050" y="3105150"/>
            <a:ext cx="1193800"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5181B"/>
                </a:solidFill>
                <a:latin typeface="IBM Plex Mono" pitchFamily="49" charset="0"/>
                <a:ea typeface="IBM Plex Mono" pitchFamily="49" charset="-122"/>
                <a:cs typeface="IBM Plex Mono" pitchFamily="49" charset="-120"/>
              </a:rPr>
              <a:t>5.2</a:t>
            </a:r>
            <a:endParaRPr lang="en-US" sz="2000" dirty="0"/>
          </a:p>
        </p:txBody>
      </p:sp>
      <p:sp>
        <p:nvSpPr>
          <p:cNvPr id="16" name="Shape 12"/>
          <p:cNvSpPr/>
          <p:nvPr/>
        </p:nvSpPr>
        <p:spPr>
          <a:xfrm>
            <a:off x="8153400" y="2273300"/>
            <a:ext cx="1143000" cy="3060700"/>
          </a:xfrm>
          <a:custGeom>
            <a:avLst/>
            <a:gdLst/>
            <a:ahLst/>
            <a:cxnLst/>
            <a:rect l="l" t="t" r="r" b="b"/>
            <a:pathLst>
              <a:path w="1143000" h="3060700">
                <a:moveTo>
                  <a:pt x="76200" y="0"/>
                </a:moveTo>
                <a:lnTo>
                  <a:pt x="1066800" y="0"/>
                </a:lnTo>
                <a:arcTo hR="76200" wR="76200" stAng="16200000" swAng="5400000"/>
                <a:lnTo>
                  <a:pt x="1143000" y="3060700"/>
                </a:lnTo>
                <a:lnTo>
                  <a:pt x="0" y="3060700"/>
                </a:lnTo>
                <a:lnTo>
                  <a:pt x="0" y="76200"/>
                </a:lnTo>
                <a:arcTo hR="76200" wR="76200" stAng="10800000" swAng="5400000"/>
                <a:close/>
              </a:path>
            </a:pathLst>
          </a:custGeom>
          <a:solidFill>
            <a:srgbClr val="E6B325"/>
          </a:solidFill>
          <a:ln/>
        </p:spPr>
      </p:sp>
      <p:sp>
        <p:nvSpPr>
          <p:cNvPr id="17" name="Text 13"/>
          <p:cNvSpPr/>
          <p:nvPr/>
        </p:nvSpPr>
        <p:spPr>
          <a:xfrm>
            <a:off x="8128000" y="1892300"/>
            <a:ext cx="1193800"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5181B"/>
                </a:solidFill>
                <a:latin typeface="IBM Plex Mono" pitchFamily="49" charset="0"/>
                <a:ea typeface="IBM Plex Mono" pitchFamily="49" charset="-122"/>
                <a:cs typeface="IBM Plex Mono" pitchFamily="49" charset="-120"/>
              </a:rPr>
              <a:t>8.6</a:t>
            </a:r>
            <a:endParaRPr lang="en-US" sz="2000" dirty="0"/>
          </a:p>
        </p:txBody>
      </p:sp>
      <p:sp>
        <p:nvSpPr>
          <p:cNvPr id="18" name="Shape 14"/>
          <p:cNvSpPr/>
          <p:nvPr/>
        </p:nvSpPr>
        <p:spPr>
          <a:xfrm>
            <a:off x="9912350" y="3949700"/>
            <a:ext cx="1143000" cy="1384300"/>
          </a:xfrm>
          <a:custGeom>
            <a:avLst/>
            <a:gdLst/>
            <a:ahLst/>
            <a:cxnLst/>
            <a:rect l="l" t="t" r="r" b="b"/>
            <a:pathLst>
              <a:path w="1143000" h="1384300">
                <a:moveTo>
                  <a:pt x="76200" y="0"/>
                </a:moveTo>
                <a:lnTo>
                  <a:pt x="1066800" y="0"/>
                </a:lnTo>
                <a:arcTo hR="76200" wR="76200" stAng="16200000" swAng="5400000"/>
                <a:lnTo>
                  <a:pt x="1143000" y="1384300"/>
                </a:lnTo>
                <a:lnTo>
                  <a:pt x="0" y="1384300"/>
                </a:lnTo>
                <a:lnTo>
                  <a:pt x="0" y="76200"/>
                </a:lnTo>
                <a:arcTo hR="76200" wR="76200" stAng="10800000" swAng="5400000"/>
                <a:close/>
              </a:path>
            </a:pathLst>
          </a:custGeom>
          <a:solidFill>
            <a:srgbClr val="B3412E"/>
          </a:solidFill>
          <a:ln/>
        </p:spPr>
      </p:sp>
      <p:sp>
        <p:nvSpPr>
          <p:cNvPr id="19" name="Text 15"/>
          <p:cNvSpPr/>
          <p:nvPr/>
        </p:nvSpPr>
        <p:spPr>
          <a:xfrm>
            <a:off x="9886950" y="3568700"/>
            <a:ext cx="1193800"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15181B"/>
                </a:solidFill>
                <a:latin typeface="IBM Plex Mono" pitchFamily="49" charset="0"/>
                <a:ea typeface="IBM Plex Mono" pitchFamily="49" charset="-122"/>
                <a:cs typeface="IBM Plex Mono" pitchFamily="49" charset="-120"/>
              </a:rPr>
              <a:t>3.9</a:t>
            </a:r>
            <a:endParaRPr lang="en-US" sz="2000" dirty="0"/>
          </a:p>
        </p:txBody>
      </p:sp>
      <p:sp>
        <p:nvSpPr>
          <p:cNvPr id="20" name="Text 16"/>
          <p:cNvSpPr/>
          <p:nvPr/>
        </p:nvSpPr>
        <p:spPr>
          <a:xfrm>
            <a:off x="850900" y="5410200"/>
            <a:ext cx="1676400"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5181B"/>
                </a:solidFill>
                <a:latin typeface="IBM Plex Sans Arabic" pitchFamily="34" charset="0"/>
                <a:ea typeface="IBM Plex Sans Arabic" pitchFamily="34" charset="-122"/>
                <a:cs typeface="IBM Plex Sans Arabic" pitchFamily="34" charset="-120"/>
              </a:rPr>
              <a:t>Metal chairs</a:t>
            </a:r>
            <a:endParaRPr lang="en-US" sz="1200" dirty="0"/>
          </a:p>
          <a:p>
            <a:pPr algn="ctr" indent="0" marL="0">
              <a:lnSpc>
                <a:spcPts val="1560"/>
              </a:lnSpc>
              <a:buNone/>
            </a:pPr>
            <a:r>
              <a:rPr lang="en-US" sz="1200" b="1" dirty="0">
                <a:solidFill>
                  <a:srgbClr val="15181B"/>
                </a:solidFill>
                <a:latin typeface="IBM Plex Sans Arabic" pitchFamily="34" charset="0"/>
                <a:ea typeface="IBM Plex Sans Arabic" pitchFamily="34" charset="-122"/>
                <a:cs typeface="IBM Plex Sans Arabic" pitchFamily="34" charset="-120"/>
              </a:rPr>
              <a:t>MANUFACTURE</a:t>
            </a:r>
            <a:endParaRPr lang="en-US" sz="1200" dirty="0"/>
          </a:p>
        </p:txBody>
      </p:sp>
      <p:sp>
        <p:nvSpPr>
          <p:cNvPr id="21" name="Text 17"/>
          <p:cNvSpPr/>
          <p:nvPr/>
        </p:nvSpPr>
        <p:spPr>
          <a:xfrm>
            <a:off x="2609850" y="5410200"/>
            <a:ext cx="1676400"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5181B"/>
                </a:solidFill>
                <a:latin typeface="IBM Plex Sans Arabic" pitchFamily="34" charset="0"/>
                <a:ea typeface="IBM Plex Sans Arabic" pitchFamily="34" charset="-122"/>
                <a:cs typeface="IBM Plex Sans Arabic" pitchFamily="34" charset="-120"/>
              </a:rPr>
              <a:t>Warehouse racks</a:t>
            </a:r>
            <a:endParaRPr lang="en-US" sz="1200" dirty="0"/>
          </a:p>
          <a:p>
            <a:pPr algn="ctr" indent="0" marL="0">
              <a:lnSpc>
                <a:spcPts val="1560"/>
              </a:lnSpc>
              <a:buNone/>
            </a:pPr>
            <a:r>
              <a:rPr lang="en-US" sz="1200" b="1" dirty="0">
                <a:solidFill>
                  <a:srgbClr val="15181B"/>
                </a:solidFill>
                <a:latin typeface="IBM Plex Sans Arabic" pitchFamily="34" charset="0"/>
                <a:ea typeface="IBM Plex Sans Arabic" pitchFamily="34" charset="-122"/>
                <a:cs typeface="IBM Plex Sans Arabic" pitchFamily="34" charset="-120"/>
              </a:rPr>
              <a:t>MANUFACTURE</a:t>
            </a:r>
            <a:endParaRPr lang="en-US" sz="1200" dirty="0"/>
          </a:p>
        </p:txBody>
      </p:sp>
      <p:sp>
        <p:nvSpPr>
          <p:cNvPr id="22" name="Text 18"/>
          <p:cNvSpPr/>
          <p:nvPr/>
        </p:nvSpPr>
        <p:spPr>
          <a:xfrm>
            <a:off x="4368800" y="5410200"/>
            <a:ext cx="1676400"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5181B"/>
                </a:solidFill>
                <a:latin typeface="IBM Plex Sans Arabic" pitchFamily="34" charset="0"/>
                <a:ea typeface="IBM Plex Sans Arabic" pitchFamily="34" charset="-122"/>
                <a:cs typeface="IBM Plex Sans Arabic" pitchFamily="34" charset="-120"/>
              </a:rPr>
              <a:t>Plastic tableware</a:t>
            </a:r>
            <a:endParaRPr lang="en-US" sz="1200" dirty="0"/>
          </a:p>
          <a:p>
            <a:pPr algn="ctr" indent="0" marL="0">
              <a:lnSpc>
                <a:spcPts val="1560"/>
              </a:lnSpc>
              <a:buNone/>
            </a:pPr>
            <a:r>
              <a:rPr lang="en-US" sz="1200" b="1" dirty="0">
                <a:solidFill>
                  <a:srgbClr val="15181B"/>
                </a:solidFill>
                <a:latin typeface="IBM Plex Sans Arabic" pitchFamily="34" charset="0"/>
                <a:ea typeface="IBM Plex Sans Arabic" pitchFamily="34" charset="-122"/>
                <a:cs typeface="IBM Plex Sans Arabic" pitchFamily="34" charset="-120"/>
              </a:rPr>
              <a:t>MANUFACTURE</a:t>
            </a:r>
            <a:endParaRPr lang="en-US" sz="1200" dirty="0"/>
          </a:p>
        </p:txBody>
      </p:sp>
      <p:sp>
        <p:nvSpPr>
          <p:cNvPr id="23" name="Text 19"/>
          <p:cNvSpPr/>
          <p:nvPr/>
        </p:nvSpPr>
        <p:spPr>
          <a:xfrm>
            <a:off x="6127750" y="5410200"/>
            <a:ext cx="1676400"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5181B"/>
                </a:solidFill>
                <a:latin typeface="IBM Plex Sans Arabic" pitchFamily="34" charset="0"/>
                <a:ea typeface="IBM Plex Sans Arabic" pitchFamily="34" charset="-122"/>
                <a:cs typeface="IBM Plex Sans Arabic" pitchFamily="34" charset="-120"/>
              </a:rPr>
              <a:t>Ceiling fans</a:t>
            </a:r>
            <a:endParaRPr lang="en-US" sz="1200" dirty="0"/>
          </a:p>
          <a:p>
            <a:pPr algn="ctr" indent="0" marL="0">
              <a:lnSpc>
                <a:spcPts val="1560"/>
              </a:lnSpc>
              <a:buNone/>
            </a:pPr>
            <a:r>
              <a:rPr lang="en-US" sz="1200" b="1" dirty="0">
                <a:solidFill>
                  <a:srgbClr val="15181B"/>
                </a:solidFill>
                <a:latin typeface="IBM Plex Sans Arabic" pitchFamily="34" charset="0"/>
                <a:ea typeface="IBM Plex Sans Arabic" pitchFamily="34" charset="-122"/>
                <a:cs typeface="IBM Plex Sans Arabic" pitchFamily="34" charset="-120"/>
              </a:rPr>
              <a:t>MAYBE</a:t>
            </a:r>
            <a:endParaRPr lang="en-US" sz="1200" dirty="0"/>
          </a:p>
        </p:txBody>
      </p:sp>
      <p:sp>
        <p:nvSpPr>
          <p:cNvPr id="24" name="Text 20"/>
          <p:cNvSpPr/>
          <p:nvPr/>
        </p:nvSpPr>
        <p:spPr>
          <a:xfrm>
            <a:off x="7886700" y="5410200"/>
            <a:ext cx="1676400"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5181B"/>
                </a:solidFill>
                <a:latin typeface="IBM Plex Sans Arabic" pitchFamily="34" charset="0"/>
                <a:ea typeface="IBM Plex Sans Arabic" pitchFamily="34" charset="-122"/>
                <a:cs typeface="IBM Plex Sans Arabic" pitchFamily="34" charset="-120"/>
              </a:rPr>
              <a:t>Frozen fries</a:t>
            </a:r>
            <a:endParaRPr lang="en-US" sz="1200" dirty="0"/>
          </a:p>
          <a:p>
            <a:pPr algn="ctr" indent="0" marL="0">
              <a:lnSpc>
                <a:spcPts val="1560"/>
              </a:lnSpc>
              <a:buNone/>
            </a:pPr>
            <a:r>
              <a:rPr lang="en-US" sz="1200" b="1" dirty="0">
                <a:solidFill>
                  <a:srgbClr val="15181B"/>
                </a:solidFill>
                <a:latin typeface="IBM Plex Sans Arabic" pitchFamily="34" charset="0"/>
                <a:ea typeface="IBM Plex Sans Arabic" pitchFamily="34" charset="-122"/>
                <a:cs typeface="IBM Plex Sans Arabic" pitchFamily="34" charset="-120"/>
              </a:rPr>
              <a:t>MANUFACTURE</a:t>
            </a:r>
            <a:endParaRPr lang="en-US" sz="1200" dirty="0"/>
          </a:p>
        </p:txBody>
      </p:sp>
      <p:sp>
        <p:nvSpPr>
          <p:cNvPr id="25" name="Text 21"/>
          <p:cNvSpPr/>
          <p:nvPr/>
        </p:nvSpPr>
        <p:spPr>
          <a:xfrm>
            <a:off x="9645650" y="5410200"/>
            <a:ext cx="1676400" cy="421481"/>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5181B"/>
                </a:solidFill>
                <a:latin typeface="IBM Plex Sans Arabic" pitchFamily="34" charset="0"/>
                <a:ea typeface="IBM Plex Sans Arabic" pitchFamily="34" charset="-122"/>
                <a:cs typeface="IBM Plex Sans Arabic" pitchFamily="34" charset="-120"/>
              </a:rPr>
              <a:t>Tomato paste</a:t>
            </a:r>
            <a:endParaRPr lang="en-US" sz="1200" dirty="0"/>
          </a:p>
          <a:p>
            <a:pPr algn="ctr" indent="0" marL="0">
              <a:lnSpc>
                <a:spcPts val="1560"/>
              </a:lnSpc>
              <a:buNone/>
            </a:pPr>
            <a:r>
              <a:rPr lang="en-US" sz="1200" b="1" dirty="0">
                <a:solidFill>
                  <a:srgbClr val="15181B"/>
                </a:solidFill>
                <a:latin typeface="IBM Plex Sans Arabic" pitchFamily="34" charset="0"/>
                <a:ea typeface="IBM Plex Sans Arabic" pitchFamily="34" charset="-122"/>
                <a:cs typeface="IBM Plex Sans Arabic" pitchFamily="34" charset="-120"/>
              </a:rPr>
              <a:t>DON'T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27341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3C8CC"/>
                </a:solidFill>
                <a:latin typeface="IBM Plex Sans Arabic" pitchFamily="34" charset="0"/>
                <a:ea typeface="IBM Plex Sans Arabic" pitchFamily="34" charset="-122"/>
                <a:cs typeface="IBM Plex Sans Arabic" pitchFamily="34" charset="-120"/>
              </a:rPr>
              <a:t>WHAT THE NUMBERS SHOW</a:t>
            </a:r>
            <a:endParaRPr lang="en-US" sz="1200" dirty="0"/>
          </a:p>
        </p:txBody>
      </p:sp>
      <p:sp>
        <p:nvSpPr>
          <p:cNvPr id="4" name="Text 2"/>
          <p:cNvSpPr/>
          <p:nvPr>
            <p:ph type="title"/>
          </p:nvPr>
        </p:nvSpPr>
        <p:spPr>
          <a:xfrm>
            <a:off x="812800" y="11785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9FAF9"/>
                </a:solidFill>
                <a:latin typeface="Alexandria" pitchFamily="34" charset="0"/>
                <a:ea typeface="Alexandria" pitchFamily="34" charset="-122"/>
                <a:cs typeface="Alexandria" pitchFamily="34" charset="-120"/>
              </a:rPr>
              <a:t>Three numbers worth remembering</a:t>
            </a:r>
            <a:endParaRPr lang="en-US" sz="3600" dirty="0"/>
          </a:p>
        </p:txBody>
      </p:sp>
      <p:sp>
        <p:nvSpPr>
          <p:cNvPr id="5" name="Shape 3"/>
          <p:cNvSpPr/>
          <p:nvPr/>
        </p:nvSpPr>
        <p:spPr>
          <a:xfrm>
            <a:off x="815975" y="2416175"/>
            <a:ext cx="3346450" cy="2914650"/>
          </a:xfrm>
          <a:prstGeom prst="roundRect">
            <a:avLst>
              <a:gd name="adj" fmla="val 3377"/>
            </a:avLst>
          </a:prstGeom>
          <a:solidFill>
            <a:srgbClr val="262B30"/>
          </a:solidFill>
          <a:ln w="6350">
            <a:solidFill>
              <a:srgbClr val="3A4046"/>
            </a:solidFill>
            <a:prstDash val="solid"/>
          </a:ln>
        </p:spPr>
      </p:sp>
      <p:sp>
        <p:nvSpPr>
          <p:cNvPr id="6" name="Text 4"/>
          <p:cNvSpPr/>
          <p:nvPr/>
        </p:nvSpPr>
        <p:spPr>
          <a:xfrm>
            <a:off x="1073150" y="2673350"/>
            <a:ext cx="2917063"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E6B325"/>
                </a:solidFill>
                <a:latin typeface="IBM Plex Mono" pitchFamily="49" charset="0"/>
                <a:ea typeface="IBM Plex Mono" pitchFamily="49" charset="-122"/>
                <a:cs typeface="IBM Plex Mono" pitchFamily="49" charset="-120"/>
              </a:rPr>
              <a:t>3.9</a:t>
            </a:r>
            <a:endParaRPr lang="en-US" sz="4000" dirty="0"/>
          </a:p>
        </p:txBody>
      </p:sp>
      <p:sp>
        <p:nvSpPr>
          <p:cNvPr id="7" name="Text 5"/>
          <p:cNvSpPr/>
          <p:nvPr/>
        </p:nvSpPr>
        <p:spPr>
          <a:xfrm>
            <a:off x="1073150" y="3333750"/>
            <a:ext cx="291706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9FAF9"/>
                </a:solidFill>
                <a:latin typeface="Alexandria" pitchFamily="34" charset="0"/>
                <a:ea typeface="Alexandria" pitchFamily="34" charset="-122"/>
                <a:cs typeface="Alexandria" pitchFamily="34" charset="-120"/>
              </a:rPr>
              <a:t>Tomato paste: DON'T</a:t>
            </a:r>
            <a:endParaRPr lang="en-US" sz="1600" dirty="0"/>
          </a:p>
        </p:txBody>
      </p:sp>
      <p:sp>
        <p:nvSpPr>
          <p:cNvPr id="8" name="Text 6"/>
          <p:cNvSpPr/>
          <p:nvPr/>
        </p:nvSpPr>
        <p:spPr>
          <a:xfrm>
            <a:off x="1073150" y="3679130"/>
            <a:ext cx="291706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8CC"/>
                </a:solidFill>
                <a:latin typeface="IBM Plex Sans Arabic" pitchFamily="34" charset="0"/>
                <a:ea typeface="IBM Plex Sans Arabic" pitchFamily="34" charset="-122"/>
                <a:cs typeface="IBM Plex Sans Arabic" pitchFamily="34" charset="-120"/>
              </a:rPr>
              <a:t>Making it locally costs more than double the import cost. The system says no.</a:t>
            </a:r>
            <a:endParaRPr lang="en-US" sz="1300" dirty="0"/>
          </a:p>
        </p:txBody>
      </p:sp>
      <p:sp>
        <p:nvSpPr>
          <p:cNvPr id="9" name="Shape 7"/>
          <p:cNvSpPr/>
          <p:nvPr/>
        </p:nvSpPr>
        <p:spPr>
          <a:xfrm>
            <a:off x="4422775" y="2416175"/>
            <a:ext cx="3346450" cy="2914650"/>
          </a:xfrm>
          <a:prstGeom prst="roundRect">
            <a:avLst>
              <a:gd name="adj" fmla="val 3377"/>
            </a:avLst>
          </a:prstGeom>
          <a:solidFill>
            <a:srgbClr val="262B30"/>
          </a:solidFill>
          <a:ln w="6350">
            <a:solidFill>
              <a:srgbClr val="3A4046"/>
            </a:solidFill>
            <a:prstDash val="solid"/>
          </a:ln>
        </p:spPr>
      </p:sp>
      <p:sp>
        <p:nvSpPr>
          <p:cNvPr id="10" name="Text 8"/>
          <p:cNvSpPr/>
          <p:nvPr/>
        </p:nvSpPr>
        <p:spPr>
          <a:xfrm>
            <a:off x="4679950" y="2673350"/>
            <a:ext cx="3086100"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E6B325"/>
                </a:solidFill>
                <a:latin typeface="IBM Plex Mono" pitchFamily="49" charset="0"/>
                <a:ea typeface="IBM Plex Mono" pitchFamily="49" charset="-122"/>
                <a:cs typeface="IBM Plex Mono" pitchFamily="49" charset="-120"/>
              </a:rPr>
              <a:t>8.6 → 5.9</a:t>
            </a:r>
            <a:endParaRPr lang="en-US" sz="4000" dirty="0"/>
          </a:p>
        </p:txBody>
      </p:sp>
      <p:sp>
        <p:nvSpPr>
          <p:cNvPr id="11" name="Text 9"/>
          <p:cNvSpPr/>
          <p:nvPr/>
        </p:nvSpPr>
        <p:spPr>
          <a:xfrm>
            <a:off x="4679950" y="3333750"/>
            <a:ext cx="2917063"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9FAF9"/>
                </a:solidFill>
                <a:latin typeface="Alexandria" pitchFamily="34" charset="0"/>
                <a:ea typeface="Alexandria" pitchFamily="34" charset="-122"/>
                <a:cs typeface="Alexandria" pitchFamily="34" charset="-120"/>
              </a:rPr>
              <a:t>Frozen fries without the 15% duty</a:t>
            </a:r>
            <a:endParaRPr lang="en-US" sz="1600" dirty="0"/>
          </a:p>
        </p:txBody>
      </p:sp>
      <p:sp>
        <p:nvSpPr>
          <p:cNvPr id="12" name="Text 10"/>
          <p:cNvSpPr/>
          <p:nvPr/>
        </p:nvSpPr>
        <p:spPr>
          <a:xfrm>
            <a:off x="4679950" y="3922911"/>
            <a:ext cx="291706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8CC"/>
                </a:solidFill>
                <a:latin typeface="IBM Plex Sans Arabic" pitchFamily="34" charset="0"/>
                <a:ea typeface="IBM Plex Sans Arabic" pitchFamily="34" charset="-122"/>
                <a:cs typeface="IBM Plex Sans Arabic" pitchFamily="34" charset="-120"/>
              </a:rPr>
              <a:t>Remove the customs duty and the verdict drops to MAYBE. Policy effects show instantly.</a:t>
            </a:r>
            <a:endParaRPr lang="en-US" sz="1300" dirty="0"/>
          </a:p>
        </p:txBody>
      </p:sp>
      <p:sp>
        <p:nvSpPr>
          <p:cNvPr id="13" name="Shape 11"/>
          <p:cNvSpPr/>
          <p:nvPr/>
        </p:nvSpPr>
        <p:spPr>
          <a:xfrm>
            <a:off x="8029575" y="2416175"/>
            <a:ext cx="3346450" cy="2914650"/>
          </a:xfrm>
          <a:prstGeom prst="roundRect">
            <a:avLst>
              <a:gd name="adj" fmla="val 3377"/>
            </a:avLst>
          </a:prstGeom>
          <a:solidFill>
            <a:srgbClr val="262B30"/>
          </a:solidFill>
          <a:ln w="6350">
            <a:solidFill>
              <a:srgbClr val="3A4046"/>
            </a:solidFill>
            <a:prstDash val="solid"/>
          </a:ln>
        </p:spPr>
      </p:sp>
      <p:sp>
        <p:nvSpPr>
          <p:cNvPr id="14" name="Text 12"/>
          <p:cNvSpPr/>
          <p:nvPr/>
        </p:nvSpPr>
        <p:spPr>
          <a:xfrm>
            <a:off x="8286750" y="2673350"/>
            <a:ext cx="2917063"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E6B325"/>
                </a:solidFill>
                <a:latin typeface="IBM Plex Mono" pitchFamily="49" charset="0"/>
                <a:ea typeface="IBM Plex Mono" pitchFamily="49" charset="-122"/>
                <a:cs typeface="IBM Plex Mono" pitchFamily="49" charset="-120"/>
              </a:rPr>
              <a:t>11 t</a:t>
            </a:r>
            <a:endParaRPr lang="en-US" sz="4000" dirty="0"/>
          </a:p>
        </p:txBody>
      </p:sp>
      <p:sp>
        <p:nvSpPr>
          <p:cNvPr id="15" name="Text 13"/>
          <p:cNvSpPr/>
          <p:nvPr/>
        </p:nvSpPr>
        <p:spPr>
          <a:xfrm>
            <a:off x="8286750" y="3333750"/>
            <a:ext cx="2917063"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9FAF9"/>
                </a:solidFill>
                <a:latin typeface="Alexandria" pitchFamily="34" charset="0"/>
                <a:ea typeface="Alexandria" pitchFamily="34" charset="-122"/>
                <a:cs typeface="Alexandria" pitchFamily="34" charset="-120"/>
              </a:rPr>
              <a:t>Break-even for metal chairs</a:t>
            </a:r>
            <a:endParaRPr lang="en-US" sz="1600" dirty="0"/>
          </a:p>
        </p:txBody>
      </p:sp>
      <p:sp>
        <p:nvSpPr>
          <p:cNvPr id="16" name="Text 14"/>
          <p:cNvSpPr/>
          <p:nvPr/>
        </p:nvSpPr>
        <p:spPr>
          <a:xfrm>
            <a:off x="8286750" y="3922911"/>
            <a:ext cx="291706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C8CC"/>
                </a:solidFill>
                <a:latin typeface="IBM Plex Sans Arabic" pitchFamily="34" charset="0"/>
                <a:ea typeface="IBM Plex Sans Arabic" pitchFamily="34" charset="-122"/>
                <a:cs typeface="IBM Plex Sans Arabic" pitchFamily="34" charset="-120"/>
              </a:rPr>
              <a:t>Only 2.2% of Jordan's imports to recover the equipment cost.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EEC"/>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102334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96067"/>
                </a:solidFill>
                <a:latin typeface="IBM Plex Sans Arabic" pitchFamily="34" charset="0"/>
                <a:ea typeface="IBM Plex Sans Arabic" pitchFamily="34" charset="-122"/>
                <a:cs typeface="IBM Plex Sans Arabic" pitchFamily="34" charset="-120"/>
              </a:rPr>
              <a:t>FEATURES</a:t>
            </a:r>
            <a:endParaRPr lang="en-US" sz="1200" dirty="0"/>
          </a:p>
        </p:txBody>
      </p:sp>
      <p:sp>
        <p:nvSpPr>
          <p:cNvPr id="4" name="Text 2"/>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B"/>
                </a:solidFill>
                <a:latin typeface="Alexandria" pitchFamily="34" charset="0"/>
                <a:ea typeface="Alexandria" pitchFamily="34" charset="-122"/>
                <a:cs typeface="Alexandria" pitchFamily="34" charset="-120"/>
              </a:rPr>
              <a:t>From a verdict to a plan</a:t>
            </a:r>
            <a:endParaRPr lang="en-US" sz="3600" dirty="0"/>
          </a:p>
        </p:txBody>
      </p:sp>
      <p:pic>
        <p:nvPicPr>
          <p:cNvPr id="5" name="Image 0" descr="Settings">    </p:cNvPr>
          <p:cNvPicPr>
            <a:picLocks noChangeAspect="1"/>
          </p:cNvPicPr>
          <p:nvPr/>
        </p:nvPicPr>
        <p:blipFill>
          <a:blip r:embed="rId1"/>
          <a:srcRect l="0" r="0" t="0" b="0"/>
          <a:stretch/>
        </p:blipFill>
        <p:spPr>
          <a:xfrm>
            <a:off x="812800" y="2036961"/>
            <a:ext cx="254000" cy="254000"/>
          </a:xfrm>
          <a:prstGeom prst="rect">
            <a:avLst/>
          </a:prstGeom>
        </p:spPr>
      </p:pic>
      <p:sp>
        <p:nvSpPr>
          <p:cNvPr id="6" name="Text 3"/>
          <p:cNvSpPr/>
          <p:nvPr/>
        </p:nvSpPr>
        <p:spPr>
          <a:xfrm>
            <a:off x="1193800" y="2036961"/>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What-if sliders</a:t>
            </a:r>
            <a:endParaRPr lang="en-US" sz="1500" dirty="0"/>
          </a:p>
        </p:txBody>
      </p:sp>
      <p:sp>
        <p:nvSpPr>
          <p:cNvPr id="7" name="Text 4"/>
          <p:cNvSpPr/>
          <p:nvPr/>
        </p:nvSpPr>
        <p:spPr>
          <a:xfrm>
            <a:off x="1193800" y="2290961"/>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Change customs or costs, see the verdict move</a:t>
            </a:r>
            <a:endParaRPr lang="en-US" sz="1200" dirty="0"/>
          </a:p>
        </p:txBody>
      </p:sp>
      <p:pic>
        <p:nvPicPr>
          <p:cNvPr id="8" name="Image 1" descr="Chart">    </p:cNvPr>
          <p:cNvPicPr>
            <a:picLocks noChangeAspect="1"/>
          </p:cNvPicPr>
          <p:nvPr/>
        </p:nvPicPr>
        <p:blipFill>
          <a:blip r:embed="rId2"/>
          <a:srcRect l="0" r="0" t="0" b="0"/>
          <a:stretch/>
        </p:blipFill>
        <p:spPr>
          <a:xfrm>
            <a:off x="6096000" y="2036961"/>
            <a:ext cx="254000" cy="254000"/>
          </a:xfrm>
          <a:prstGeom prst="rect">
            <a:avLst/>
          </a:prstGeom>
        </p:spPr>
      </p:pic>
      <p:sp>
        <p:nvSpPr>
          <p:cNvPr id="9" name="Text 5"/>
          <p:cNvSpPr/>
          <p:nvPr/>
        </p:nvSpPr>
        <p:spPr>
          <a:xfrm>
            <a:off x="6477000" y="2036961"/>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Break-even</a:t>
            </a:r>
            <a:endParaRPr lang="en-US" sz="1500" dirty="0"/>
          </a:p>
        </p:txBody>
      </p:sp>
      <p:sp>
        <p:nvSpPr>
          <p:cNvPr id="10" name="Text 6"/>
          <p:cNvSpPr/>
          <p:nvPr/>
        </p:nvSpPr>
        <p:spPr>
          <a:xfrm>
            <a:off x="6477000" y="2290961"/>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Tons to recover equipment cost, and % of imports</a:t>
            </a:r>
            <a:endParaRPr lang="en-US" sz="1200" dirty="0"/>
          </a:p>
        </p:txBody>
      </p:sp>
      <p:pic>
        <p:nvPicPr>
          <p:cNvPr id="11" name="Image 2" descr="Key">    </p:cNvPr>
          <p:cNvPicPr>
            <a:picLocks noChangeAspect="1"/>
          </p:cNvPicPr>
          <p:nvPr/>
        </p:nvPicPr>
        <p:blipFill>
          <a:blip r:embed="rId3"/>
          <a:srcRect l="0" r="0" t="0" b="0"/>
          <a:stretch/>
        </p:blipFill>
        <p:spPr>
          <a:xfrm>
            <a:off x="812800" y="2504281"/>
            <a:ext cx="254000" cy="254000"/>
          </a:xfrm>
          <a:prstGeom prst="rect">
            <a:avLst/>
          </a:prstGeom>
        </p:spPr>
      </p:pic>
      <p:sp>
        <p:nvSpPr>
          <p:cNvPr id="12" name="Text 7"/>
          <p:cNvSpPr/>
          <p:nvPr/>
        </p:nvSpPr>
        <p:spPr>
          <a:xfrm>
            <a:off x="1193800" y="2504281"/>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Budget check</a:t>
            </a:r>
            <a:endParaRPr lang="en-US" sz="1500" dirty="0"/>
          </a:p>
        </p:txBody>
      </p:sp>
      <p:sp>
        <p:nvSpPr>
          <p:cNvPr id="13" name="Text 8"/>
          <p:cNvSpPr/>
          <p:nvPr/>
        </p:nvSpPr>
        <p:spPr>
          <a:xfrm>
            <a:off x="1193800" y="2758281"/>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Your budget vs the equipment cost range</a:t>
            </a:r>
            <a:endParaRPr lang="en-US" sz="1200" dirty="0"/>
          </a:p>
        </p:txBody>
      </p:sp>
      <p:pic>
        <p:nvPicPr>
          <p:cNvPr id="14" name="Image 3" descr="Users">    </p:cNvPr>
          <p:cNvPicPr>
            <a:picLocks noChangeAspect="1"/>
          </p:cNvPicPr>
          <p:nvPr/>
        </p:nvPicPr>
        <p:blipFill>
          <a:blip r:embed="rId4"/>
          <a:srcRect l="0" r="0" t="0" b="0"/>
          <a:stretch/>
        </p:blipFill>
        <p:spPr>
          <a:xfrm>
            <a:off x="6096000" y="2504281"/>
            <a:ext cx="254000" cy="254000"/>
          </a:xfrm>
          <a:prstGeom prst="rect">
            <a:avLst/>
          </a:prstGeom>
        </p:spPr>
      </p:pic>
      <p:sp>
        <p:nvSpPr>
          <p:cNvPr id="15" name="Text 9"/>
          <p:cNvSpPr/>
          <p:nvPr/>
        </p:nvSpPr>
        <p:spPr>
          <a:xfrm>
            <a:off x="6477000" y="2504281"/>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Who can help</a:t>
            </a:r>
            <a:endParaRPr lang="en-US" sz="1500" dirty="0"/>
          </a:p>
        </p:txBody>
      </p:sp>
      <p:sp>
        <p:nvSpPr>
          <p:cNvPr id="16" name="Text 10"/>
          <p:cNvSpPr/>
          <p:nvPr/>
        </p:nvSpPr>
        <p:spPr>
          <a:xfrm>
            <a:off x="6477000" y="2758281"/>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Official bodies like JEDCO and the Chamber of Industry</a:t>
            </a:r>
            <a:endParaRPr lang="en-US" sz="1200" dirty="0"/>
          </a:p>
        </p:txBody>
      </p:sp>
      <p:pic>
        <p:nvPicPr>
          <p:cNvPr id="17" name="Image 4" descr="Search">    </p:cNvPr>
          <p:cNvPicPr>
            <a:picLocks noChangeAspect="1"/>
          </p:cNvPicPr>
          <p:nvPr/>
        </p:nvPicPr>
        <p:blipFill>
          <a:blip r:embed="rId5"/>
          <a:srcRect l="0" r="0" t="0" b="0"/>
          <a:stretch/>
        </p:blipFill>
        <p:spPr>
          <a:xfrm>
            <a:off x="812800" y="2971602"/>
            <a:ext cx="254000" cy="254000"/>
          </a:xfrm>
          <a:prstGeom prst="rect">
            <a:avLst/>
          </a:prstGeom>
        </p:spPr>
      </p:pic>
      <p:sp>
        <p:nvSpPr>
          <p:cNvPr id="18" name="Text 11"/>
          <p:cNvSpPr/>
          <p:nvPr/>
        </p:nvSpPr>
        <p:spPr>
          <a:xfrm>
            <a:off x="1193800" y="2971602"/>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Supplier search</a:t>
            </a:r>
            <a:endParaRPr lang="en-US" sz="1500" dirty="0"/>
          </a:p>
        </p:txBody>
      </p:sp>
      <p:sp>
        <p:nvSpPr>
          <p:cNvPr id="19" name="Text 12"/>
          <p:cNvSpPr/>
          <p:nvPr/>
        </p:nvSpPr>
        <p:spPr>
          <a:xfrm>
            <a:off x="1193800" y="3225602"/>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Search links for the exact machinery and materials</a:t>
            </a:r>
            <a:endParaRPr lang="en-US" sz="1200" dirty="0"/>
          </a:p>
        </p:txBody>
      </p:sp>
      <p:pic>
        <p:nvPicPr>
          <p:cNvPr id="20" name="Image 5" descr="Check">    </p:cNvPr>
          <p:cNvPicPr>
            <a:picLocks noChangeAspect="1"/>
          </p:cNvPicPr>
          <p:nvPr/>
        </p:nvPicPr>
        <p:blipFill>
          <a:blip r:embed="rId6"/>
          <a:srcRect l="0" r="0" t="0" b="0"/>
          <a:stretch/>
        </p:blipFill>
        <p:spPr>
          <a:xfrm>
            <a:off x="6096000" y="2971602"/>
            <a:ext cx="254000" cy="254000"/>
          </a:xfrm>
          <a:prstGeom prst="rect">
            <a:avLst/>
          </a:prstGeom>
        </p:spPr>
      </p:pic>
      <p:sp>
        <p:nvSpPr>
          <p:cNvPr id="21" name="Text 13"/>
          <p:cNvSpPr/>
          <p:nvPr/>
        </p:nvSpPr>
        <p:spPr>
          <a:xfrm>
            <a:off x="6477000" y="2971602"/>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How to start</a:t>
            </a:r>
            <a:endParaRPr lang="en-US" sz="1500" dirty="0"/>
          </a:p>
        </p:txBody>
      </p:sp>
      <p:sp>
        <p:nvSpPr>
          <p:cNvPr id="22" name="Text 14"/>
          <p:cNvSpPr/>
          <p:nvPr/>
        </p:nvSpPr>
        <p:spPr>
          <a:xfrm>
            <a:off x="6477000" y="3225602"/>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A step-by-step guide for each verdict</a:t>
            </a:r>
            <a:endParaRPr lang="en-US" sz="1200" dirty="0"/>
          </a:p>
        </p:txBody>
      </p:sp>
      <p:pic>
        <p:nvPicPr>
          <p:cNvPr id="23" name="Image 6" descr="Book">    </p:cNvPr>
          <p:cNvPicPr>
            <a:picLocks noChangeAspect="1"/>
          </p:cNvPicPr>
          <p:nvPr/>
        </p:nvPicPr>
        <p:blipFill>
          <a:blip r:embed="rId7"/>
          <a:srcRect l="0" r="0" t="0" b="0"/>
          <a:stretch/>
        </p:blipFill>
        <p:spPr>
          <a:xfrm>
            <a:off x="812800" y="3438922"/>
            <a:ext cx="254000" cy="254000"/>
          </a:xfrm>
          <a:prstGeom prst="rect">
            <a:avLst/>
          </a:prstGeom>
        </p:spPr>
      </p:pic>
      <p:sp>
        <p:nvSpPr>
          <p:cNvPr id="24" name="Text 15"/>
          <p:cNvSpPr/>
          <p:nvPr/>
        </p:nvSpPr>
        <p:spPr>
          <a:xfrm>
            <a:off x="1193800" y="3438922"/>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Downloadable report</a:t>
            </a:r>
            <a:endParaRPr lang="en-US" sz="1500" dirty="0"/>
          </a:p>
        </p:txBody>
      </p:sp>
      <p:sp>
        <p:nvSpPr>
          <p:cNvPr id="25" name="Text 16"/>
          <p:cNvSpPr/>
          <p:nvPr/>
        </p:nvSpPr>
        <p:spPr>
          <a:xfrm>
            <a:off x="1193800" y="3692922"/>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The full analysis as a PDF</a:t>
            </a:r>
            <a:endParaRPr lang="en-US" sz="1200" dirty="0"/>
          </a:p>
        </p:txBody>
      </p:sp>
      <p:pic>
        <p:nvPicPr>
          <p:cNvPr id="26" name="Image 7" descr="Globe">    </p:cNvPr>
          <p:cNvPicPr>
            <a:picLocks noChangeAspect="1"/>
          </p:cNvPicPr>
          <p:nvPr/>
        </p:nvPicPr>
        <p:blipFill>
          <a:blip r:embed="rId8"/>
          <a:srcRect l="0" r="0" t="0" b="0"/>
          <a:stretch/>
        </p:blipFill>
        <p:spPr>
          <a:xfrm>
            <a:off x="6096000" y="3438922"/>
            <a:ext cx="254000" cy="254000"/>
          </a:xfrm>
          <a:prstGeom prst="rect">
            <a:avLst/>
          </a:prstGeom>
        </p:spPr>
      </p:pic>
      <p:sp>
        <p:nvSpPr>
          <p:cNvPr id="27" name="Text 17"/>
          <p:cNvSpPr/>
          <p:nvPr/>
        </p:nvSpPr>
        <p:spPr>
          <a:xfrm>
            <a:off x="6477000" y="3438922"/>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Beyond six categories</a:t>
            </a:r>
            <a:endParaRPr lang="en-US" sz="1500" dirty="0"/>
          </a:p>
        </p:txBody>
      </p:sp>
      <p:sp>
        <p:nvSpPr>
          <p:cNvPr id="28" name="Text 18"/>
          <p:cNvSpPr/>
          <p:nvPr/>
        </p:nvSpPr>
        <p:spPr>
          <a:xfrm>
            <a:off x="6477000" y="3692922"/>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A live UN Comtrade market scan for other products</a:t>
            </a:r>
            <a:endParaRPr lang="en-US" sz="1200" dirty="0"/>
          </a:p>
        </p:txBody>
      </p:sp>
      <p:pic>
        <p:nvPicPr>
          <p:cNvPr id="29" name="Image 8" descr="Chat">    </p:cNvPr>
          <p:cNvPicPr>
            <a:picLocks noChangeAspect="1"/>
          </p:cNvPicPr>
          <p:nvPr/>
        </p:nvPicPr>
        <p:blipFill>
          <a:blip r:embed="rId9"/>
          <a:srcRect l="0" r="0" t="0" b="0"/>
          <a:stretch/>
        </p:blipFill>
        <p:spPr>
          <a:xfrm>
            <a:off x="812800" y="3906242"/>
            <a:ext cx="254000" cy="254000"/>
          </a:xfrm>
          <a:prstGeom prst="rect">
            <a:avLst/>
          </a:prstGeom>
        </p:spPr>
      </p:pic>
      <p:sp>
        <p:nvSpPr>
          <p:cNvPr id="30" name="Text 19"/>
          <p:cNvSpPr/>
          <p:nvPr/>
        </p:nvSpPr>
        <p:spPr>
          <a:xfrm>
            <a:off x="1193800" y="3906242"/>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Arabic first</a:t>
            </a:r>
            <a:endParaRPr lang="en-US" sz="1500" dirty="0"/>
          </a:p>
        </p:txBody>
      </p:sp>
      <p:sp>
        <p:nvSpPr>
          <p:cNvPr id="31" name="Text 20"/>
          <p:cNvSpPr/>
          <p:nvPr/>
        </p:nvSpPr>
        <p:spPr>
          <a:xfrm>
            <a:off x="1193800" y="4160242"/>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Full Arabic interface and a methodology page</a:t>
            </a:r>
            <a:endParaRPr lang="en-US" sz="1200" dirty="0"/>
          </a:p>
        </p:txBody>
      </p:sp>
      <p:pic>
        <p:nvPicPr>
          <p:cNvPr id="32" name="Image 9" descr="Verified">    </p:cNvPr>
          <p:cNvPicPr>
            <a:picLocks noChangeAspect="1"/>
          </p:cNvPicPr>
          <p:nvPr/>
        </p:nvPicPr>
        <p:blipFill>
          <a:blip r:embed="rId10"/>
          <a:srcRect l="0" r="0" t="0" b="0"/>
          <a:stretch/>
        </p:blipFill>
        <p:spPr>
          <a:xfrm>
            <a:off x="6096000" y="3906242"/>
            <a:ext cx="254000" cy="254000"/>
          </a:xfrm>
          <a:prstGeom prst="rect">
            <a:avLst/>
          </a:prstGeom>
        </p:spPr>
      </p:pic>
      <p:sp>
        <p:nvSpPr>
          <p:cNvPr id="33" name="Text 21"/>
          <p:cNvSpPr/>
          <p:nvPr/>
        </p:nvSpPr>
        <p:spPr>
          <a:xfrm>
            <a:off x="6477000" y="3906242"/>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181B"/>
                </a:solidFill>
                <a:latin typeface="Alexandria" pitchFamily="34" charset="0"/>
                <a:ea typeface="Alexandria" pitchFamily="34" charset="-122"/>
                <a:cs typeface="Alexandria" pitchFamily="34" charset="-120"/>
              </a:rPr>
              <a:t>Engineering quality</a:t>
            </a:r>
            <a:endParaRPr lang="en-US" sz="1500" dirty="0"/>
          </a:p>
        </p:txBody>
      </p:sp>
      <p:sp>
        <p:nvSpPr>
          <p:cNvPr id="34" name="Text 22"/>
          <p:cNvSpPr/>
          <p:nvPr/>
        </p:nvSpPr>
        <p:spPr>
          <a:xfrm>
            <a:off x="6477000" y="4160242"/>
            <a:ext cx="5049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96067"/>
                </a:solidFill>
                <a:latin typeface="IBM Plex Sans Arabic" pitchFamily="34" charset="0"/>
                <a:ea typeface="IBM Plex Sans Arabic" pitchFamily="34" charset="-122"/>
                <a:cs typeface="IBM Plex Sans Arabic" pitchFamily="34" charset="-120"/>
              </a:rPr>
              <a:t>587 tests · 20/20 live AI tests · repeats in 0.035 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EEC"/>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285059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96067"/>
                </a:solidFill>
                <a:latin typeface="IBM Plex Sans Arabic" pitchFamily="34" charset="0"/>
                <a:ea typeface="IBM Plex Sans Arabic" pitchFamily="34" charset="-122"/>
                <a:cs typeface="IBM Plex Sans Arabic" pitchFamily="34" charset="-120"/>
              </a:rPr>
              <a:t>WHAT MAKES US DIFFERENT</a:t>
            </a:r>
            <a:endParaRPr lang="en-US" sz="1200" dirty="0"/>
          </a:p>
        </p:txBody>
      </p:sp>
      <p:sp>
        <p:nvSpPr>
          <p:cNvPr id="4" name="Text 2"/>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B"/>
                </a:solidFill>
                <a:latin typeface="Alexandria" pitchFamily="34" charset="0"/>
                <a:ea typeface="Alexandria" pitchFamily="34" charset="-122"/>
                <a:cs typeface="Alexandria" pitchFamily="34" charset="-120"/>
              </a:rPr>
              <a:t>A verdict, not just data or chat</a:t>
            </a:r>
            <a:endParaRPr lang="en-US" sz="3600" dirty="0"/>
          </a:p>
        </p:txBody>
      </p:sp>
      <p:sp>
        <p:nvSpPr>
          <p:cNvPr id="5" name="Shape 3"/>
          <p:cNvSpPr/>
          <p:nvPr/>
        </p:nvSpPr>
        <p:spPr>
          <a:xfrm>
            <a:off x="812800" y="2036961"/>
            <a:ext cx="10566400" cy="2893219"/>
          </a:xfrm>
          <a:prstGeom prst="roundRect">
            <a:avLst>
              <a:gd name="adj" fmla="val 3512"/>
            </a:avLst>
          </a:prstGeom>
          <a:solidFill>
            <a:srgbClr val="F9FAF9"/>
          </a:solidFill>
          <a:ln/>
        </p:spPr>
      </p:sp>
      <p:sp>
        <p:nvSpPr>
          <p:cNvPr id="6" name="Shape 4"/>
          <p:cNvSpPr/>
          <p:nvPr/>
        </p:nvSpPr>
        <p:spPr>
          <a:xfrm>
            <a:off x="812800" y="2036961"/>
            <a:ext cx="10566400" cy="2893219"/>
          </a:xfrm>
          <a:custGeom>
            <a:avLst/>
            <a:gdLst/>
            <a:ahLst/>
            <a:cxnLst/>
            <a:rect l="l" t="t" r="r" b="b"/>
            <a:pathLst>
              <a:path w="10566400" h="2893219">
                <a:moveTo>
                  <a:pt x="10464800" y="0"/>
                </a:moveTo>
                <a:lnTo>
                  <a:pt x="10464800" y="0"/>
                </a:lnTo>
                <a:arcTo hR="101600" wR="101600" stAng="16200000" swAng="5400000"/>
                <a:lnTo>
                  <a:pt x="10566400" y="2791619"/>
                </a:lnTo>
                <a:arcTo hR="101600" wR="101600" stAng="0" swAng="5400000"/>
                <a:lnTo>
                  <a:pt x="101600" y="2893219"/>
                </a:lnTo>
                <a:arcTo hR="101600" wR="101600" stAng="5400000" swAng="5400000"/>
                <a:lnTo>
                  <a:pt x="0" y="2791619"/>
                </a:lnTo>
                <a:arcTo hR="95250" wR="101600" stAng="10800000" swAng="-5400000"/>
                <a:lnTo>
                  <a:pt x="10464800" y="2886869"/>
                </a:lnTo>
                <a:arcTo hR="95250" wR="95250" stAng="5400000" swAng="-5400000"/>
                <a:lnTo>
                  <a:pt x="10560050" y="101600"/>
                </a:lnTo>
                <a:arcTo hR="101600" wR="95250" stAng="0" swAng="-5400000"/>
                <a:close/>
              </a:path>
            </a:pathLst>
          </a:custGeom>
          <a:solidFill>
            <a:srgbClr val="D5D9D6"/>
          </a:solidFill>
          <a:ln/>
        </p:spPr>
      </p:sp>
      <p:sp>
        <p:nvSpPr>
          <p:cNvPr id="7" name="Shape 5"/>
          <p:cNvSpPr/>
          <p:nvPr/>
        </p:nvSpPr>
        <p:spPr>
          <a:xfrm>
            <a:off x="812800" y="2036961"/>
            <a:ext cx="10566400" cy="2893219"/>
          </a:xfrm>
          <a:custGeom>
            <a:avLst/>
            <a:gdLst/>
            <a:ahLst/>
            <a:cxnLst/>
            <a:rect l="l" t="t" r="r" b="b"/>
            <a:pathLst>
              <a:path w="10566400" h="2893219">
                <a:moveTo>
                  <a:pt x="101600" y="2893219"/>
                </a:moveTo>
                <a:lnTo>
                  <a:pt x="101600" y="2893219"/>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791619"/>
                </a:lnTo>
                <a:arcTo hR="101600" wR="8890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049661"/>
          <a:ext cx="10547350" cy="2874169"/>
        </p:xfrm>
        <a:graphic>
          <a:graphicData uri="http://schemas.openxmlformats.org/drawingml/2006/table">
            <a:tbl>
              <a:tblPr/>
              <a:tblGrid>
                <a:gridCol w="2320417"/>
                <a:gridCol w="2003997"/>
                <a:gridCol w="2003997"/>
                <a:gridCol w="2003997"/>
                <a:gridCol w="2214943"/>
              </a:tblGrid>
              <a:tr h="359271">
                <a:tc>
                  <a:txBody>
                    <a:bodyPr/>
                    <a:lstStyle/>
                    <a:p>
                      <a:pPr indent="0" marL="0">
                        <a:lnSpc>
                          <a:spcPts val="1820"/>
                        </a:lnSpc>
                        <a:buNone/>
                      </a:pPr>
                      <a:r>
                        <a:rPr lang="en-US" sz="1300" b="1" dirty="0">
                          <a:solidFill>
                            <a:srgbClr val="F9FAF9"/>
                          </a:solidFill>
                          <a:latin typeface="IBM Plex Sans Arabic" pitchFamily="34" charset="0"/>
                          <a:ea typeface="IBM Plex Sans Arabic" pitchFamily="34" charset="-122"/>
                          <a:cs typeface="IBM Plex Sans Arabic" pitchFamily="34" charset="-120"/>
                        </a:rPr>
                        <a:t> </a:t>
                      </a:r>
                      <a:endParaRPr lang="en-US" sz="1300" dirty="0">
                        <a:latin typeface="IBM Plex Sans Arabic" charset="0"/>
                        <a:ea typeface="IBM Plex Sans Arabic" charset="0"/>
                        <a:cs typeface="IBM Plex Sans Arabic" charset="0"/>
                      </a:endParaRPr>
                    </a:p>
                  </a:txBody>
                  <a:tcPr marL="57785" marR="57785" marT="57785" marB="57785" anchor="t">
                    <a:lnL w="0" cap="flat" cmpd="sng" algn="ctr">
                      <a:noFill/>
                    </a:lnL>
                    <a:lnR w="12700" cap="flat" cmpd="sng" algn="ctr">
                      <a:solidFill>
                        <a:srgbClr val="1A1D20"/>
                      </a:solidFill>
                      <a:prstDash val="solid"/>
                      <a:round/>
                      <a:headEnd type="none" w="med" len="med"/>
                      <a:tailEnd type="none" w="med" len="med"/>
                    </a:lnR>
                    <a:lnT w="0" cap="flat" cmpd="sng" algn="ctr">
                      <a:noFill/>
                    </a:lnT>
                    <a:lnB w="12700" cap="flat" cmpd="sng" algn="ctr">
                      <a:solidFill>
                        <a:srgbClr val="1A1D20"/>
                      </a:solidFill>
                      <a:prstDash val="solid"/>
                      <a:round/>
                      <a:headEnd type="none" w="med" len="med"/>
                      <a:tailEnd type="none" w="med" len="med"/>
                    </a:lnB>
                    <a:solidFill>
                      <a:srgbClr val="1C2024"/>
                    </a:solidFill>
                  </a:tcPr>
                </a:tc>
                <a:tc>
                  <a:txBody>
                    <a:bodyPr/>
                    <a:lstStyle/>
                    <a:p>
                      <a:pPr indent="0" marL="0">
                        <a:lnSpc>
                          <a:spcPts val="1820"/>
                        </a:lnSpc>
                        <a:buNone/>
                      </a:pPr>
                      <a:r>
                        <a:rPr lang="en-US" sz="1300" b="1" dirty="0">
                          <a:solidFill>
                            <a:srgbClr val="F9FAF9"/>
                          </a:solidFill>
                          <a:latin typeface="IBM Plex Sans Arabic" pitchFamily="34" charset="0"/>
                          <a:ea typeface="IBM Plex Sans Arabic" pitchFamily="34" charset="-122"/>
                          <a:cs typeface="IBM Plex Sans Arabic" pitchFamily="34" charset="-120"/>
                        </a:rPr>
                        <a:t>Traditional study</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1A1D20"/>
                      </a:solidFill>
                      <a:prstDash val="solid"/>
                      <a:round/>
                      <a:headEnd type="none" w="med" len="med"/>
                      <a:tailEnd type="none" w="med" len="med"/>
                    </a:lnL>
                    <a:lnR w="12700" cap="flat" cmpd="sng" algn="ctr">
                      <a:solidFill>
                        <a:srgbClr val="1A1D20"/>
                      </a:solidFill>
                      <a:prstDash val="solid"/>
                      <a:round/>
                      <a:headEnd type="none" w="med" len="med"/>
                      <a:tailEnd type="none" w="med" len="med"/>
                    </a:lnR>
                    <a:lnT w="0" cap="flat" cmpd="sng" algn="ctr">
                      <a:noFill/>
                    </a:lnT>
                    <a:lnB w="12700" cap="flat" cmpd="sng" algn="ctr">
                      <a:solidFill>
                        <a:srgbClr val="1A1D20"/>
                      </a:solidFill>
                      <a:prstDash val="solid"/>
                      <a:round/>
                      <a:headEnd type="none" w="med" len="med"/>
                      <a:tailEnd type="none" w="med" len="med"/>
                    </a:lnB>
                    <a:solidFill>
                      <a:srgbClr val="1C2024"/>
                    </a:solidFill>
                  </a:tcPr>
                </a:tc>
                <a:tc>
                  <a:txBody>
                    <a:bodyPr/>
                    <a:lstStyle/>
                    <a:p>
                      <a:pPr indent="0" marL="0">
                        <a:lnSpc>
                          <a:spcPts val="1820"/>
                        </a:lnSpc>
                        <a:buNone/>
                      </a:pPr>
                      <a:r>
                        <a:rPr lang="en-US" sz="1300" b="1" dirty="0">
                          <a:solidFill>
                            <a:srgbClr val="F9FAF9"/>
                          </a:solidFill>
                          <a:latin typeface="IBM Plex Sans Arabic" pitchFamily="34" charset="0"/>
                          <a:ea typeface="IBM Plex Sans Arabic" pitchFamily="34" charset="-122"/>
                          <a:cs typeface="IBM Plex Sans Arabic" pitchFamily="34" charset="-120"/>
                        </a:rPr>
                        <a:t>Generic AI chatbot</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1A1D20"/>
                      </a:solidFill>
                      <a:prstDash val="solid"/>
                      <a:round/>
                      <a:headEnd type="none" w="med" len="med"/>
                      <a:tailEnd type="none" w="med" len="med"/>
                    </a:lnL>
                    <a:lnR w="12700" cap="flat" cmpd="sng" algn="ctr">
                      <a:solidFill>
                        <a:srgbClr val="1A1D20"/>
                      </a:solidFill>
                      <a:prstDash val="solid"/>
                      <a:round/>
                      <a:headEnd type="none" w="med" len="med"/>
                      <a:tailEnd type="none" w="med" len="med"/>
                    </a:lnR>
                    <a:lnT w="0" cap="flat" cmpd="sng" algn="ctr">
                      <a:noFill/>
                    </a:lnT>
                    <a:lnB w="12700" cap="flat" cmpd="sng" algn="ctr">
                      <a:solidFill>
                        <a:srgbClr val="1A1D20"/>
                      </a:solidFill>
                      <a:prstDash val="solid"/>
                      <a:round/>
                      <a:headEnd type="none" w="med" len="med"/>
                      <a:tailEnd type="none" w="med" len="med"/>
                    </a:lnB>
                    <a:solidFill>
                      <a:srgbClr val="1C2024"/>
                    </a:solidFill>
                  </a:tcPr>
                </a:tc>
                <a:tc>
                  <a:txBody>
                    <a:bodyPr/>
                    <a:lstStyle/>
                    <a:p>
                      <a:pPr indent="0" marL="0">
                        <a:lnSpc>
                          <a:spcPts val="1820"/>
                        </a:lnSpc>
                        <a:buNone/>
                      </a:pPr>
                      <a:r>
                        <a:rPr lang="en-US" sz="1300" b="1" dirty="0">
                          <a:solidFill>
                            <a:srgbClr val="F9FAF9"/>
                          </a:solidFill>
                          <a:latin typeface="IBM Plex Sans Arabic" pitchFamily="34" charset="0"/>
                          <a:ea typeface="IBM Plex Sans Arabic" pitchFamily="34" charset="-122"/>
                          <a:cs typeface="IBM Plex Sans Arabic" pitchFamily="34" charset="-120"/>
                        </a:rPr>
                        <a:t>Trade-data portal</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1A1D20"/>
                      </a:solidFill>
                      <a:prstDash val="solid"/>
                      <a:round/>
                      <a:headEnd type="none" w="med" len="med"/>
                      <a:tailEnd type="none" w="med" len="med"/>
                    </a:lnL>
                    <a:lnR w="12700" cap="flat" cmpd="sng" algn="ctr">
                      <a:solidFill>
                        <a:srgbClr val="1A1D20"/>
                      </a:solidFill>
                      <a:prstDash val="solid"/>
                      <a:round/>
                      <a:headEnd type="none" w="med" len="med"/>
                      <a:tailEnd type="none" w="med" len="med"/>
                    </a:lnR>
                    <a:lnT w="0" cap="flat" cmpd="sng" algn="ctr">
                      <a:noFill/>
                    </a:lnT>
                    <a:lnB w="12700" cap="flat" cmpd="sng" algn="ctr">
                      <a:solidFill>
                        <a:srgbClr val="1A1D20"/>
                      </a:solidFill>
                      <a:prstDash val="solid"/>
                      <a:round/>
                      <a:headEnd type="none" w="med" len="med"/>
                      <a:tailEnd type="none" w="med" len="med"/>
                    </a:lnB>
                    <a:solidFill>
                      <a:srgbClr val="1C2024"/>
                    </a:solidFill>
                  </a:tcPr>
                </a:tc>
                <a:tc>
                  <a:txBody>
                    <a:bodyPr/>
                    <a:lstStyle/>
                    <a:p>
                      <a:pPr indent="0" marL="0">
                        <a:lnSpc>
                          <a:spcPts val="1820"/>
                        </a:lnSpc>
                        <a:buNone/>
                      </a:pPr>
                      <a:r>
                        <a:rPr lang="en-US" sz="1300" b="1" dirty="0">
                          <a:solidFill>
                            <a:srgbClr val="E6B325"/>
                          </a:solidFill>
                          <a:latin typeface="IBM Plex Sans Arabic" pitchFamily="34" charset="0"/>
                          <a:ea typeface="IBM Plex Sans Arabic" pitchFamily="34" charset="-122"/>
                          <a:cs typeface="IBM Plex Sans Arabic" pitchFamily="34" charset="-120"/>
                        </a:rPr>
                        <a:t>Sanna'ha</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1A1D20"/>
                      </a:solidFill>
                      <a:prstDash val="solid"/>
                      <a:round/>
                      <a:headEnd type="none" w="med" len="med"/>
                      <a:tailEnd type="none" w="med" len="med"/>
                    </a:lnL>
                    <a:lnR w="12700" cap="flat" cmpd="sng" algn="ctr">
                      <a:solidFill>
                        <a:srgbClr val="1A1D20"/>
                      </a:solidFill>
                      <a:prstDash val="solid"/>
                      <a:round/>
                      <a:headEnd type="none" w="med" len="med"/>
                      <a:tailEnd type="none" w="med" len="med"/>
                    </a:lnR>
                    <a:lnT w="0" cap="flat" cmpd="sng" algn="ctr">
                      <a:noFill/>
                    </a:lnT>
                    <a:lnB w="12700" cap="flat" cmpd="sng" algn="ctr">
                      <a:solidFill>
                        <a:srgbClr val="1A1D20"/>
                      </a:solidFill>
                      <a:prstDash val="solid"/>
                      <a:round/>
                      <a:headEnd type="none" w="med" len="med"/>
                      <a:tailEnd type="none" w="med" len="med"/>
                    </a:lnB>
                    <a:solidFill>
                      <a:srgbClr val="1C2024"/>
                    </a:solidFill>
                  </a:tcPr>
                </a:tc>
              </a:tr>
              <a:tr h="359271">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Speed</a:t>
                      </a:r>
                      <a:endParaRPr lang="en-US" sz="1300" dirty="0">
                        <a:latin typeface="IBM Plex Sans Arabic" charset="0"/>
                        <a:ea typeface="IBM Plex Sans Arabic" charset="0"/>
                        <a:cs typeface="IBM Plex Sans Arabic" charset="0"/>
                      </a:endParaRPr>
                    </a:p>
                  </a:txBody>
                  <a:tcPr marL="57785" marR="57785" marT="57785" marB="57785" anchor="t">
                    <a:lnL w="0" cap="flat" cmpd="sng" algn="ctr">
                      <a:noFill/>
                    </a:lnL>
                    <a:lnR w="12700" cap="flat" cmpd="sng" algn="ctr">
                      <a:solidFill>
                        <a:srgbClr val="C7C7C6"/>
                      </a:solidFill>
                      <a:prstDash val="solid"/>
                      <a:round/>
                      <a:headEnd type="none" w="med" len="med"/>
                      <a:tailEnd type="none" w="med" len="med"/>
                    </a:lnR>
                    <a:lnT w="12700" cap="flat" cmpd="sng" algn="ctr">
                      <a:solidFill>
                        <a:srgbClr val="1A1D20"/>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Weeks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1A1D20"/>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Seconds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1A1D20"/>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Self-serve research</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1A1D20"/>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3–5 seconds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1A1D20"/>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Cost</a:t>
                      </a:r>
                      <a:endParaRPr lang="en-US" sz="1300" dirty="0">
                        <a:latin typeface="IBM Plex Sans Arabic" charset="0"/>
                        <a:ea typeface="IBM Plex Sans Arabic" charset="0"/>
                        <a:cs typeface="IBM Plex Sans Arabic" charset="0"/>
                      </a:endParaRPr>
                    </a:p>
                  </a:txBody>
                  <a:tcPr marL="57785" marR="57785" marT="57785" marB="57785" anchor="t">
                    <a:lnL w="0" cap="flat" cmpd="sng" algn="ctr">
                      <a:noFill/>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High</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Low</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Low</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Low</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Numbers grounded in data</a:t>
                      </a:r>
                      <a:endParaRPr lang="en-US" sz="1300" dirty="0">
                        <a:latin typeface="IBM Plex Sans Arabic" charset="0"/>
                        <a:ea typeface="IBM Plex Sans Arabic" charset="0"/>
                        <a:cs typeface="IBM Plex Sans Arabic" charset="0"/>
                      </a:endParaRPr>
                    </a:p>
                  </a:txBody>
                  <a:tcPr marL="57785" marR="57785" marT="57785" marB="57785" anchor="t">
                    <a:lnL w="0" cap="flat" cmpd="sng" algn="ctr">
                      <a:noFill/>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Yes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Can invent numbers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Raw data only</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Calculated and checked</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Clear verdict</a:t>
                      </a:r>
                      <a:endParaRPr lang="en-US" sz="1300" dirty="0">
                        <a:latin typeface="IBM Plex Sans Arabic" charset="0"/>
                        <a:ea typeface="IBM Plex Sans Arabic" charset="0"/>
                        <a:cs typeface="IBM Plex Sans Arabic" charset="0"/>
                      </a:endParaRPr>
                    </a:p>
                  </a:txBody>
                  <a:tcPr marL="57785" marR="57785" marT="57785" marB="57785" anchor="t">
                    <a:lnL w="0" cap="flat" cmpd="sng" algn="ctr">
                      <a:noFill/>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Yes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Not consistent</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No</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Yes, with reasons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Arabic</a:t>
                      </a:r>
                      <a:endParaRPr lang="en-US" sz="1300" dirty="0">
                        <a:latin typeface="IBM Plex Sans Arabic" charset="0"/>
                        <a:ea typeface="IBM Plex Sans Arabic" charset="0"/>
                        <a:cs typeface="IBM Plex Sans Arabic" charset="0"/>
                      </a:endParaRPr>
                    </a:p>
                  </a:txBody>
                  <a:tcPr marL="57785" marR="57785" marT="57785" marB="57785" anchor="t">
                    <a:lnL w="0" cap="flat" cmpd="sng" algn="ctr">
                      <a:noFill/>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Depends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Yes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Limited</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Yes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What-if analysis</a:t>
                      </a:r>
                      <a:endParaRPr lang="en-US" sz="1300" dirty="0">
                        <a:latin typeface="IBM Plex Sans Arabic" charset="0"/>
                        <a:ea typeface="IBM Plex Sans Arabic" charset="0"/>
                        <a:cs typeface="IBM Plex Sans Arabic" charset="0"/>
                      </a:endParaRPr>
                    </a:p>
                  </a:txBody>
                  <a:tcPr marL="57785" marR="57785" marT="57785" marB="57785" anchor="t">
                    <a:lnL w="0" cap="flat" cmpd="sng" algn="ctr">
                      <a:noFill/>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Rarely</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No</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No</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Instant sliders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Next steps</a:t>
                      </a:r>
                      <a:endParaRPr lang="en-US" sz="1300" dirty="0">
                        <a:latin typeface="IBM Plex Sans Arabic" charset="0"/>
                        <a:ea typeface="IBM Plex Sans Arabic" charset="0"/>
                        <a:cs typeface="IBM Plex Sans Arabic" charset="0"/>
                      </a:endParaRPr>
                    </a:p>
                  </a:txBody>
                  <a:tcPr marL="57785" marR="57785" marT="57785" marB="57785" anchor="t">
                    <a:lnL w="0" cap="flat" cmpd="sng" algn="ctr">
                      <a:noFill/>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Yes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Generic</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No</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c>
                  <a:txBody>
                    <a:bodyPr/>
                    <a:lstStyle/>
                    <a:p>
                      <a:pPr indent="0" marL="0">
                        <a:lnSpc>
                          <a:spcPts val="1820"/>
                        </a:lnSpc>
                        <a:buNone/>
                      </a:pPr>
                      <a:r>
                        <a:rPr lang="en-US" sz="1300" dirty="0">
                          <a:solidFill>
                            <a:srgbClr val="15181B"/>
                          </a:solidFill>
                          <a:latin typeface="IBM Plex Sans Arabic" pitchFamily="34" charset="0"/>
                          <a:ea typeface="IBM Plex Sans Arabic" pitchFamily="34" charset="-122"/>
                          <a:cs typeface="IBM Plex Sans Arabic" pitchFamily="34" charset="-120"/>
                        </a:rPr>
                        <a:t>Advisors, suppliers, steps</a:t>
                      </a:r>
                      <a:endParaRPr lang="en-US" sz="1300" dirty="0">
                        <a:latin typeface="IBM Plex Sans Arabic" charset="0"/>
                        <a:ea typeface="IBM Plex Sans Arabic" charset="0"/>
                        <a:cs typeface="IBM Plex Sans Arabic" charset="0"/>
                      </a:endParaRPr>
                    </a:p>
                  </a:txBody>
                  <a:tcPr marL="57785" marR="57785" marT="57785" marB="57785" anchor="t">
                    <a:lnL w="12700" cap="flat" cmpd="sng" algn="ctr">
                      <a:solidFill>
                        <a:srgbClr val="C7C7C6"/>
                      </a:solidFill>
                      <a:prstDash val="solid"/>
                      <a:round/>
                      <a:headEnd type="none" w="med" len="med"/>
                      <a:tailEnd type="none" w="med" len="med"/>
                    </a:lnL>
                    <a:lnR w="12700" cap="flat" cmpd="sng" algn="ctr">
                      <a:solidFill>
                        <a:srgbClr val="C7C7C6"/>
                      </a:solidFill>
                      <a:prstDash val="solid"/>
                      <a:round/>
                      <a:headEnd type="none" w="med" len="med"/>
                      <a:tailEnd type="none" w="med" len="med"/>
                    </a:lnR>
                    <a:lnT w="12700" cap="flat" cmpd="sng" algn="ctr">
                      <a:solidFill>
                        <a:srgbClr val="C7C7C6"/>
                      </a:solidFill>
                      <a:prstDash val="solid"/>
                      <a:round/>
                      <a:headEnd type="none" w="med" len="med"/>
                      <a:tailEnd type="none" w="med" len="med"/>
                    </a:lnT>
                    <a:lnB w="12700" cap="flat" cmpd="sng" algn="ctr">
                      <a:solidFill>
                        <a:srgbClr val="C7C7C6"/>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0E3E1"/>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199167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96067"/>
                </a:solidFill>
                <a:latin typeface="IBM Plex Sans Arabic" pitchFamily="34" charset="0"/>
                <a:ea typeface="IBM Plex Sans Arabic" pitchFamily="34" charset="-122"/>
                <a:cs typeface="IBM Plex Sans Arabic" pitchFamily="34" charset="-120"/>
              </a:rPr>
              <a:t>IMPACT ON JORDAN</a:t>
            </a:r>
            <a:endParaRPr lang="en-US" sz="1200" dirty="0"/>
          </a:p>
        </p:txBody>
      </p:sp>
      <p:sp>
        <p:nvSpPr>
          <p:cNvPr id="4" name="Text 2"/>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5181B"/>
                </a:solidFill>
                <a:latin typeface="Alexandria" pitchFamily="34" charset="0"/>
                <a:ea typeface="Alexandria" pitchFamily="34" charset="-122"/>
                <a:cs typeface="Alexandria" pitchFamily="34" charset="-120"/>
              </a:rPr>
              <a:t>Make more here. Import less.</a:t>
            </a:r>
            <a:endParaRPr lang="en-US" sz="3600" dirty="0"/>
          </a:p>
        </p:txBody>
      </p:sp>
      <p:sp>
        <p:nvSpPr>
          <p:cNvPr id="5" name="Shape 3"/>
          <p:cNvSpPr/>
          <p:nvPr/>
        </p:nvSpPr>
        <p:spPr>
          <a:xfrm>
            <a:off x="815975" y="2040136"/>
            <a:ext cx="5175250" cy="994271"/>
          </a:xfrm>
          <a:prstGeom prst="roundRect">
            <a:avLst>
              <a:gd name="adj" fmla="val 9899"/>
            </a:avLst>
          </a:prstGeom>
          <a:solidFill>
            <a:srgbClr val="F9FAF9"/>
          </a:solidFill>
          <a:ln w="6350">
            <a:solidFill>
              <a:srgbClr val="D5D9D6"/>
            </a:solidFill>
            <a:prstDash val="solid"/>
          </a:ln>
        </p:spPr>
      </p:sp>
      <p:sp>
        <p:nvSpPr>
          <p:cNvPr id="6" name="Text 4"/>
          <p:cNvSpPr/>
          <p:nvPr/>
        </p:nvSpPr>
        <p:spPr>
          <a:xfrm>
            <a:off x="1022350" y="2246511"/>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B"/>
                </a:solidFill>
                <a:latin typeface="Alexandria" pitchFamily="34" charset="0"/>
                <a:ea typeface="Alexandria" pitchFamily="34" charset="-122"/>
                <a:cs typeface="Alexandria" pitchFamily="34" charset="-120"/>
              </a:rPr>
              <a:t>Import substitution</a:t>
            </a:r>
            <a:endParaRPr lang="en-US" sz="1800" dirty="0"/>
          </a:p>
        </p:txBody>
      </p:sp>
      <p:sp>
        <p:nvSpPr>
          <p:cNvPr id="7" name="Text 5"/>
          <p:cNvSpPr/>
          <p:nvPr/>
        </p:nvSpPr>
        <p:spPr>
          <a:xfrm>
            <a:off x="1022350" y="2596952"/>
            <a:ext cx="49053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Local manufacturing replaces products Jordan now imports.</a:t>
            </a:r>
            <a:endParaRPr lang="en-US" sz="1300" dirty="0"/>
          </a:p>
        </p:txBody>
      </p:sp>
      <p:sp>
        <p:nvSpPr>
          <p:cNvPr id="8" name="Shape 6"/>
          <p:cNvSpPr/>
          <p:nvPr/>
        </p:nvSpPr>
        <p:spPr>
          <a:xfrm>
            <a:off x="6200775" y="2040136"/>
            <a:ext cx="5175250" cy="994271"/>
          </a:xfrm>
          <a:prstGeom prst="roundRect">
            <a:avLst>
              <a:gd name="adj" fmla="val 9899"/>
            </a:avLst>
          </a:prstGeom>
          <a:solidFill>
            <a:srgbClr val="F9FAF9"/>
          </a:solidFill>
          <a:ln w="6350">
            <a:solidFill>
              <a:srgbClr val="D5D9D6"/>
            </a:solidFill>
            <a:prstDash val="solid"/>
          </a:ln>
        </p:spPr>
      </p:sp>
      <p:sp>
        <p:nvSpPr>
          <p:cNvPr id="9" name="Text 7"/>
          <p:cNvSpPr/>
          <p:nvPr/>
        </p:nvSpPr>
        <p:spPr>
          <a:xfrm>
            <a:off x="6407150" y="2246511"/>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B"/>
                </a:solidFill>
                <a:latin typeface="Alexandria" pitchFamily="34" charset="0"/>
                <a:ea typeface="Alexandria" pitchFamily="34" charset="-122"/>
                <a:cs typeface="Alexandria" pitchFamily="34" charset="-120"/>
              </a:rPr>
              <a:t>Money stays home</a:t>
            </a:r>
            <a:endParaRPr lang="en-US" sz="1800" dirty="0"/>
          </a:p>
        </p:txBody>
      </p:sp>
      <p:sp>
        <p:nvSpPr>
          <p:cNvPr id="10" name="Text 8"/>
          <p:cNvSpPr/>
          <p:nvPr/>
        </p:nvSpPr>
        <p:spPr>
          <a:xfrm>
            <a:off x="6407150" y="2596952"/>
            <a:ext cx="49053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Less spent abroad, more kept in the local economy.</a:t>
            </a:r>
            <a:endParaRPr lang="en-US" sz="1300" dirty="0"/>
          </a:p>
        </p:txBody>
      </p:sp>
      <p:sp>
        <p:nvSpPr>
          <p:cNvPr id="11" name="Shape 9"/>
          <p:cNvSpPr/>
          <p:nvPr/>
        </p:nvSpPr>
        <p:spPr>
          <a:xfrm>
            <a:off x="815975" y="3243957"/>
            <a:ext cx="5175250" cy="1225352"/>
          </a:xfrm>
          <a:prstGeom prst="roundRect">
            <a:avLst>
              <a:gd name="adj" fmla="val 8032"/>
            </a:avLst>
          </a:prstGeom>
          <a:solidFill>
            <a:srgbClr val="F9FAF9"/>
          </a:solidFill>
          <a:ln w="6350">
            <a:solidFill>
              <a:srgbClr val="D5D9D6"/>
            </a:solidFill>
            <a:prstDash val="solid"/>
          </a:ln>
        </p:spPr>
      </p:sp>
      <p:sp>
        <p:nvSpPr>
          <p:cNvPr id="12" name="Text 10"/>
          <p:cNvSpPr/>
          <p:nvPr/>
        </p:nvSpPr>
        <p:spPr>
          <a:xfrm>
            <a:off x="1022350" y="3450332"/>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B"/>
                </a:solidFill>
                <a:latin typeface="Alexandria" pitchFamily="34" charset="0"/>
                <a:ea typeface="Alexandria" pitchFamily="34" charset="-122"/>
                <a:cs typeface="Alexandria" pitchFamily="34" charset="-120"/>
              </a:rPr>
              <a:t>Local jobs</a:t>
            </a:r>
            <a:endParaRPr lang="en-US" sz="1800" dirty="0"/>
          </a:p>
        </p:txBody>
      </p:sp>
      <p:sp>
        <p:nvSpPr>
          <p:cNvPr id="13" name="Text 11"/>
          <p:cNvSpPr/>
          <p:nvPr/>
        </p:nvSpPr>
        <p:spPr>
          <a:xfrm>
            <a:off x="1022350" y="3800773"/>
            <a:ext cx="49053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New production lines mean new work in Jordan.</a:t>
            </a:r>
            <a:endParaRPr lang="en-US" sz="1300" dirty="0"/>
          </a:p>
        </p:txBody>
      </p:sp>
      <p:sp>
        <p:nvSpPr>
          <p:cNvPr id="14" name="Shape 12"/>
          <p:cNvSpPr/>
          <p:nvPr/>
        </p:nvSpPr>
        <p:spPr>
          <a:xfrm>
            <a:off x="6200775" y="3243957"/>
            <a:ext cx="5175250" cy="1225352"/>
          </a:xfrm>
          <a:prstGeom prst="roundRect">
            <a:avLst>
              <a:gd name="adj" fmla="val 8032"/>
            </a:avLst>
          </a:prstGeom>
          <a:solidFill>
            <a:srgbClr val="F9FAF9"/>
          </a:solidFill>
          <a:ln w="6350">
            <a:solidFill>
              <a:srgbClr val="D5D9D6"/>
            </a:solidFill>
            <a:prstDash val="solid"/>
          </a:ln>
        </p:spPr>
      </p:sp>
      <p:sp>
        <p:nvSpPr>
          <p:cNvPr id="15" name="Text 13"/>
          <p:cNvSpPr/>
          <p:nvPr/>
        </p:nvSpPr>
        <p:spPr>
          <a:xfrm>
            <a:off x="6407150" y="3450332"/>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181B"/>
                </a:solidFill>
                <a:latin typeface="Alexandria" pitchFamily="34" charset="0"/>
                <a:ea typeface="Alexandria" pitchFamily="34" charset="-122"/>
                <a:cs typeface="Alexandria" pitchFamily="34" charset="-120"/>
              </a:rPr>
              <a:t>Faster, safer decisions</a:t>
            </a:r>
            <a:endParaRPr lang="en-US" sz="1800" dirty="0"/>
          </a:p>
        </p:txBody>
      </p:sp>
      <p:sp>
        <p:nvSpPr>
          <p:cNvPr id="16" name="Text 14"/>
          <p:cNvSpPr/>
          <p:nvPr/>
        </p:nvSpPr>
        <p:spPr>
          <a:xfrm>
            <a:off x="6407150" y="3800773"/>
            <a:ext cx="49053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96067"/>
                </a:solidFill>
                <a:latin typeface="IBM Plex Sans Arabic" pitchFamily="34" charset="0"/>
                <a:ea typeface="IBM Plex Sans Arabic" pitchFamily="34" charset="-122"/>
                <a:cs typeface="IBM Plex Sans Arabic" pitchFamily="34" charset="-120"/>
              </a:rPr>
              <a:t>Workshop owners decide in seconds, with the numbers behind it.</a:t>
            </a:r>
            <a:endParaRPr lang="en-US" sz="1300" dirty="0"/>
          </a:p>
        </p:txBody>
      </p:sp>
      <p:sp>
        <p:nvSpPr>
          <p:cNvPr id="17" name="Text 15"/>
          <p:cNvSpPr/>
          <p:nvPr/>
        </p:nvSpPr>
        <p:spPr>
          <a:xfrm>
            <a:off x="812800" y="4726484"/>
            <a:ext cx="10566400" cy="802481"/>
          </a:xfrm>
          <a:prstGeom prst="roundRect">
            <a:avLst>
              <a:gd name="adj" fmla="val 12661"/>
            </a:avLst>
          </a:prstGeom>
          <a:solidFill>
            <a:srgbClr val="1C2024"/>
          </a:solidFill>
          <a:ln/>
        </p:spPr>
        <p:txBody>
          <a:bodyPr wrap="square" lIns="224242" tIns="122642" rIns="0" bIns="97242" rtlCol="0" anchor="t">
            <a:normAutofit/>
          </a:bodyPr>
          <a:lstStyle/>
          <a:p>
            <a:pPr algn="l" indent="0" marL="0">
              <a:lnSpc>
                <a:spcPts val="1960"/>
              </a:lnSpc>
              <a:buNone/>
            </a:pPr>
            <a:r>
              <a:rPr lang="en-US" sz="1400" dirty="0">
                <a:solidFill>
                  <a:srgbClr val="F9FAF9"/>
                </a:solidFill>
                <a:latin typeface="IBM Plex Sans Arabic" pitchFamily="34" charset="0"/>
                <a:ea typeface="IBM Plex Sans Arabic" pitchFamily="34" charset="-122"/>
                <a:cs typeface="IBM Plex Sans Arabic" pitchFamily="34" charset="-120"/>
              </a:rPr>
              <a:t>For the Jordan Chamber of Industry and JEDCO: a map of import-substitution opportunities, aligned with Jordan's economic modernisation goals.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2024"/>
        </a:solidFill>
      </p:bgPr>
    </p:bg>
    <p:spTree>
      <p:nvGrpSpPr>
        <p:cNvPr id="1" name=""/>
        <p:cNvGrpSpPr/>
        <p:nvPr/>
      </p:nvGrpSpPr>
      <p:grpSpPr>
        <a:xfrm>
          <a:off x="0" y="0"/>
          <a:ext cx="0" cy="0"/>
          <a:chOff x="0" y="0"/>
          <a:chExt cx="0" cy="0"/>
        </a:xfrm>
      </p:grpSpPr>
      <p:sp>
        <p:nvSpPr>
          <p:cNvPr id="2" name="Shape 0"/>
          <p:cNvSpPr/>
          <p:nvPr/>
        </p:nvSpPr>
        <p:spPr>
          <a:xfrm>
            <a:off x="812800" y="894060"/>
            <a:ext cx="254000" cy="50800"/>
          </a:xfrm>
          <a:prstGeom prst="roundRect">
            <a:avLst>
              <a:gd name="adj" fmla="val 50000"/>
            </a:avLst>
          </a:prstGeom>
          <a:solidFill>
            <a:srgbClr val="E6B325"/>
          </a:solidFill>
          <a:ln/>
        </p:spPr>
      </p:sp>
      <p:sp>
        <p:nvSpPr>
          <p:cNvPr id="3" name="Text 1"/>
          <p:cNvSpPr/>
          <p:nvPr/>
        </p:nvSpPr>
        <p:spPr>
          <a:xfrm>
            <a:off x="1168400" y="812800"/>
            <a:ext cx="145220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3C8CC"/>
                </a:solidFill>
                <a:latin typeface="IBM Plex Sans Arabic" pitchFamily="34" charset="0"/>
                <a:ea typeface="IBM Plex Sans Arabic" pitchFamily="34" charset="-122"/>
                <a:cs typeface="IBM Plex Sans Arabic" pitchFamily="34" charset="-120"/>
              </a:rPr>
              <a:t>FUTURE WORK</a:t>
            </a:r>
            <a:endParaRPr lang="en-US" sz="1200" dirty="0"/>
          </a:p>
        </p:txBody>
      </p:sp>
      <p:sp>
        <p:nvSpPr>
          <p:cNvPr id="4" name="Text 2"/>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9FAF9"/>
                </a:solidFill>
                <a:latin typeface="Alexandria" pitchFamily="34" charset="0"/>
                <a:ea typeface="Alexandria" pitchFamily="34" charset="-122"/>
                <a:cs typeface="Alexandria" pitchFamily="34" charset="-120"/>
              </a:rPr>
              <a:t>What's next</a:t>
            </a:r>
            <a:endParaRPr lang="en-US" sz="3600" dirty="0"/>
          </a:p>
        </p:txBody>
      </p:sp>
      <p:sp>
        <p:nvSpPr>
          <p:cNvPr id="5" name="Text 3"/>
          <p:cNvSpPr/>
          <p:nvPr/>
        </p:nvSpPr>
        <p:spPr>
          <a:xfrm>
            <a:off x="864108" y="2036961"/>
            <a:ext cx="10824464" cy="1549400"/>
          </a:xfrm>
          <a:prstGeom prst="rect">
            <a:avLst/>
          </a:prstGeom>
          <a:noFill/>
          <a:ln/>
        </p:spPr>
        <p:txBody>
          <a:bodyPr wrap="square" lIns="0" tIns="0" rIns="0" bIns="0" rtlCol="0" anchor="t">
            <a:normAutofit/>
          </a:bodyPr>
          <a:lstStyle/>
          <a:p>
            <a:pPr algn="l" marL="202692" indent="-202692">
              <a:lnSpc>
                <a:spcPts val="2400"/>
              </a:lnSpc>
              <a:buSzPct val="100000"/>
              <a:buChar char="•"/>
            </a:pPr>
            <a:r>
              <a:rPr lang="en-US" sz="1600" dirty="0">
                <a:solidFill>
                  <a:srgbClr val="C3C8CC"/>
                </a:solidFill>
                <a:latin typeface="IBM Plex Sans Arabic" pitchFamily="34" charset="0"/>
                <a:ea typeface="IBM Plex Sans Arabic" pitchFamily="34" charset="-122"/>
                <a:cs typeface="IBM Plex Sans Arabic" pitchFamily="34" charset="-120"/>
              </a:rPr>
              <a:t>Grow from 6 product categories to many more, with automatic data refresh</a:t>
            </a:r>
            <a:endParaRPr lang="en-US" sz="1600" dirty="0"/>
          </a:p>
          <a:p>
            <a:pPr algn="l" marL="202692" indent="-202692">
              <a:lnSpc>
                <a:spcPts val="2400"/>
              </a:lnSpc>
              <a:buSzPct val="100000"/>
              <a:buChar char="•"/>
            </a:pPr>
            <a:r>
              <a:rPr lang="en-US" sz="1600" dirty="0">
                <a:solidFill>
                  <a:srgbClr val="C3C8CC"/>
                </a:solidFill>
                <a:latin typeface="IBM Plex Sans Arabic" pitchFamily="34" charset="0"/>
                <a:ea typeface="IBM Plex Sans Arabic" pitchFamily="34" charset="-122"/>
                <a:cs typeface="IBM Plex Sans Arabic" pitchFamily="34" charset="-120"/>
              </a:rPr>
              <a:t>Link the verdict directly to financing (JEDCO, banks)</a:t>
            </a:r>
            <a:endParaRPr lang="en-US" sz="1600" dirty="0"/>
          </a:p>
          <a:p>
            <a:pPr algn="l" marL="202692" indent="-202692">
              <a:lnSpc>
                <a:spcPts val="2400"/>
              </a:lnSpc>
              <a:buSzPct val="100000"/>
              <a:buChar char="•"/>
            </a:pPr>
            <a:r>
              <a:rPr lang="en-US" sz="1600" dirty="0">
                <a:solidFill>
                  <a:srgbClr val="C3C8CC"/>
                </a:solidFill>
                <a:latin typeface="IBM Plex Sans Arabic" pitchFamily="34" charset="0"/>
                <a:ea typeface="IBM Plex Sans Arabic" pitchFamily="34" charset="-122"/>
                <a:cs typeface="IBM Plex Sans Arabic" pitchFamily="34" charset="-120"/>
              </a:rPr>
              <a:t>A recycling track: products made from recycled materials available in Jordan</a:t>
            </a:r>
            <a:endParaRPr lang="en-US" sz="1600" dirty="0"/>
          </a:p>
          <a:p>
            <a:pPr algn="l" marL="202692" indent="-202692">
              <a:lnSpc>
                <a:spcPts val="2400"/>
              </a:lnSpc>
              <a:buSzPct val="100000"/>
              <a:buChar char="•"/>
            </a:pPr>
            <a:r>
              <a:rPr lang="en-US" sz="1600" dirty="0">
                <a:solidFill>
                  <a:srgbClr val="C3C8CC"/>
                </a:solidFill>
                <a:latin typeface="IBM Plex Sans Arabic" pitchFamily="34" charset="0"/>
                <a:ea typeface="IBM Plex Sans Arabic" pitchFamily="34" charset="-122"/>
                <a:cs typeface="IBM Plex Sans Arabic" pitchFamily="34" charset="-120"/>
              </a:rPr>
              <a:t>A verified local supplier directory</a:t>
            </a:r>
            <a:endParaRPr lang="en-US" sz="1600" dirty="0"/>
          </a:p>
          <a:p>
            <a:pPr algn="l" marL="202692" indent="-202692">
              <a:lnSpc>
                <a:spcPts val="2400"/>
              </a:lnSpc>
              <a:buSzPct val="100000"/>
              <a:buChar char="•"/>
            </a:pPr>
            <a:r>
              <a:rPr lang="en-US" sz="1600" dirty="0">
                <a:solidFill>
                  <a:srgbClr val="C3C8CC"/>
                </a:solidFill>
                <a:latin typeface="IBM Plex Sans Arabic" pitchFamily="34" charset="0"/>
                <a:ea typeface="IBM Plex Sans Arabic" pitchFamily="34" charset="-122"/>
                <a:cs typeface="IBM Plex Sans Arabic" pitchFamily="34" charset="-120"/>
              </a:rPr>
              <a:t>A demand map of what people search for most, for the Chamber of Industry</a:t>
            </a:r>
            <a:endParaRPr lang="en-US" sz="1600" dirty="0"/>
          </a:p>
        </p:txBody>
      </p:sp>
      <p:sp>
        <p:nvSpPr>
          <p:cNvPr id="6" name="Text 4"/>
          <p:cNvSpPr/>
          <p:nvPr/>
        </p:nvSpPr>
        <p:spPr>
          <a:xfrm>
            <a:off x="812800" y="4826000"/>
            <a:ext cx="10883392" cy="452041"/>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E6B325"/>
                </a:solidFill>
                <a:latin typeface="Alexandria" pitchFamily="34" charset="0"/>
                <a:ea typeface="Alexandria" pitchFamily="34" charset="-122"/>
                <a:cs typeface="Alexandria" pitchFamily="34" charset="-120"/>
              </a:rPr>
              <a:t>From "should I?" to "here's how", in seconds.</a:t>
            </a:r>
            <a:endParaRPr lang="en-US" sz="28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A8"/>
                </a:solidFill>
                <a:latin typeface="IBM Plex Sans Arabic" pitchFamily="34" charset="0"/>
                <a:ea typeface="IBM Plex Sans Arabic" pitchFamily="34" charset="-122"/>
                <a:cs typeface="IBM Plex Sans Arabic" pitchFamily="34" charset="-120"/>
              </a:rPr>
              <a:t>Team InferX · Sanna'ha صنّعها</a:t>
            </a:r>
            <a:endParaRPr lang="en-US" sz="1200" dirty="0"/>
          </a:p>
        </p:txBody>
      </p:sp>
    </p:spTree>
  </p:cSld>
  <p:clrMapOvr>
    <a:masterClrMapping/>
  </p:clrMapOvr>
</p:sld>
</file>

<file path=ppt/theme/theme1.xml><?xml version="1.0" encoding="utf-8"?>
<a:theme xmlns:a="http://schemas.openxmlformats.org/drawingml/2006/main" name="Sanna'ha | صنّعها">
  <a:themeElements>
    <a:clrScheme name="Sanna'ha | صنّعها">
      <a:dk1>
        <a:srgbClr val="15181B"/>
      </a:dk1>
      <a:lt1>
        <a:srgbClr val="ECEEEC"/>
      </a:lt1>
      <a:dk2>
        <a:srgbClr val="4B4E4F"/>
      </a:dk2>
      <a:lt2>
        <a:srgbClr val="D7D9D7"/>
      </a:lt2>
      <a:accent1>
        <a:srgbClr val="E6B325"/>
      </a:accent1>
      <a:accent2>
        <a:srgbClr val="B3412E"/>
      </a:accent2>
      <a:accent3>
        <a:srgbClr val="596067"/>
      </a:accent3>
      <a:accent4>
        <a:srgbClr val="C3C8CC"/>
      </a:accent4>
      <a:accent5>
        <a:srgbClr val="9AA1A8"/>
      </a:accent5>
      <a:accent6>
        <a:srgbClr val="3A3F44"/>
      </a:accent6>
      <a:hlink>
        <a:srgbClr val="0563C1"/>
      </a:hlink>
      <a:folHlink>
        <a:srgbClr val="954F72"/>
      </a:folHlink>
    </a:clrScheme>
    <a:fontScheme name="Sanna'ha | صنّعها">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Sanna'ha | صنّعها</dc:title>
  <dc:subject/>
  <dc:creator/>
  <cp:lastModifiedBy/>
  <cp:revision>1</cp:revision>
  <dcterms:created xsi:type="dcterms:W3CDTF">2026-10-10T08:34:43Z</dcterms:created>
  <dcterms:modified xsi:type="dcterms:W3CDTF">2026-10-10T08:34:43Z</dcterms:modified>
</cp:coreProperties>
</file>